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2"/>
  </p:sldMasterIdLst>
  <p:notesMasterIdLst>
    <p:notesMasterId r:id="rId19"/>
  </p:notesMasterIdLst>
  <p:sldIdLst>
    <p:sldId id="256" r:id="rId3"/>
    <p:sldId id="257" r:id="rId4"/>
    <p:sldId id="258" r:id="rId5"/>
    <p:sldId id="272" r:id="rId6"/>
    <p:sldId id="259" r:id="rId7"/>
    <p:sldId id="260" r:id="rId8"/>
    <p:sldId id="261" r:id="rId9"/>
    <p:sldId id="263" r:id="rId10"/>
    <p:sldId id="262" r:id="rId11"/>
    <p:sldId id="267" r:id="rId12"/>
    <p:sldId id="264" r:id="rId13"/>
    <p:sldId id="265" r:id="rId14"/>
    <p:sldId id="266" r:id="rId15"/>
    <p:sldId id="271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9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12" d="100"/>
          <a:sy n="112" d="100"/>
        </p:scale>
        <p:origin x="82" y="504"/>
      </p:cViewPr>
      <p:guideLst>
        <p:guide orient="horz" pos="2164"/>
        <p:guide pos="29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6B9B6-879A-42F0-8F52-92E53E427DF9}" type="datetimeFigureOut">
              <a:rPr lang="zh-CN" altLang="en-US" smtClean="0"/>
              <a:t>都2026/5/28了地球怎么还没有爆炸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843EB-233B-452E-B202-EB1A44A11B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76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843EB-233B-452E-B202-EB1A44A11B6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913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文本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568" y="533400"/>
            <a:ext cx="10972229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568" y="1524000"/>
            <a:ext cx="5333722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568" y="2082800"/>
            <a:ext cx="5333722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14352" y="2641600"/>
            <a:ext cx="4724154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6248075" y="1524000"/>
            <a:ext cx="5333722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248075" y="2082800"/>
            <a:ext cx="5333722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2859" y="2641600"/>
            <a:ext cx="4724154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文本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568" y="533400"/>
            <a:ext cx="10972229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568" y="1524000"/>
            <a:ext cx="5333722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568" y="2082800"/>
            <a:ext cx="5333722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14352" y="2641600"/>
            <a:ext cx="4724154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6248075" y="1524000"/>
            <a:ext cx="5333722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248075" y="2082800"/>
            <a:ext cx="5333722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2859" y="2641600"/>
            <a:ext cx="4724154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38.xml"/><Relationship Id="rId18" Type="http://schemas.openxmlformats.org/officeDocument/2006/relationships/tags" Target="../tags/tag43.xml"/><Relationship Id="rId26" Type="http://schemas.openxmlformats.org/officeDocument/2006/relationships/tags" Target="../tags/tag51.xml"/><Relationship Id="rId21" Type="http://schemas.openxmlformats.org/officeDocument/2006/relationships/tags" Target="../tags/tag46.xml"/><Relationship Id="rId34" Type="http://schemas.openxmlformats.org/officeDocument/2006/relationships/slide" Target="slide11.xml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17" Type="http://schemas.openxmlformats.org/officeDocument/2006/relationships/tags" Target="../tags/tag42.xml"/><Relationship Id="rId25" Type="http://schemas.openxmlformats.org/officeDocument/2006/relationships/tags" Target="../tags/tag50.xml"/><Relationship Id="rId33" Type="http://schemas.openxmlformats.org/officeDocument/2006/relationships/slide" Target="slide10.xml"/><Relationship Id="rId38" Type="http://schemas.openxmlformats.org/officeDocument/2006/relationships/slide" Target="slide12.xml"/><Relationship Id="rId2" Type="http://schemas.openxmlformats.org/officeDocument/2006/relationships/tags" Target="../tags/tag27.xml"/><Relationship Id="rId16" Type="http://schemas.openxmlformats.org/officeDocument/2006/relationships/tags" Target="../tags/tag41.xml"/><Relationship Id="rId20" Type="http://schemas.openxmlformats.org/officeDocument/2006/relationships/tags" Target="../tags/tag45.xml"/><Relationship Id="rId29" Type="http://schemas.openxmlformats.org/officeDocument/2006/relationships/notesSlide" Target="../notesSlides/notesSlide1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24" Type="http://schemas.openxmlformats.org/officeDocument/2006/relationships/tags" Target="../tags/tag49.xml"/><Relationship Id="rId32" Type="http://schemas.openxmlformats.org/officeDocument/2006/relationships/slide" Target="slide5.xml"/><Relationship Id="rId37" Type="http://schemas.openxmlformats.org/officeDocument/2006/relationships/slide" Target="slide14.xml"/><Relationship Id="rId5" Type="http://schemas.openxmlformats.org/officeDocument/2006/relationships/tags" Target="../tags/tag30.xml"/><Relationship Id="rId15" Type="http://schemas.openxmlformats.org/officeDocument/2006/relationships/tags" Target="../tags/tag40.xml"/><Relationship Id="rId23" Type="http://schemas.openxmlformats.org/officeDocument/2006/relationships/tags" Target="../tags/tag48.xml"/><Relationship Id="rId28" Type="http://schemas.openxmlformats.org/officeDocument/2006/relationships/slideLayout" Target="../slideLayouts/slideLayout7.xml"/><Relationship Id="rId36" Type="http://schemas.openxmlformats.org/officeDocument/2006/relationships/slide" Target="slide15.xml"/><Relationship Id="rId10" Type="http://schemas.openxmlformats.org/officeDocument/2006/relationships/tags" Target="../tags/tag35.xml"/><Relationship Id="rId19" Type="http://schemas.openxmlformats.org/officeDocument/2006/relationships/tags" Target="../tags/tag44.xml"/><Relationship Id="rId31" Type="http://schemas.openxmlformats.org/officeDocument/2006/relationships/slide" Target="slide4.xml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Relationship Id="rId22" Type="http://schemas.openxmlformats.org/officeDocument/2006/relationships/tags" Target="../tags/tag47.xml"/><Relationship Id="rId27" Type="http://schemas.openxmlformats.org/officeDocument/2006/relationships/tags" Target="../tags/tag52.xml"/><Relationship Id="rId30" Type="http://schemas.openxmlformats.org/officeDocument/2006/relationships/slide" Target="slide3.xml"/><Relationship Id="rId35" Type="http://schemas.openxmlformats.org/officeDocument/2006/relationships/slide" Target="slide13.xml"/><Relationship Id="rId8" Type="http://schemas.openxmlformats.org/officeDocument/2006/relationships/tags" Target="../tags/tag33.xml"/><Relationship Id="rId3" Type="http://schemas.openxmlformats.org/officeDocument/2006/relationships/tags" Target="../tags/tag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tags" Target="../tags/tag70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20" Type="http://schemas.openxmlformats.org/officeDocument/2006/relationships/image" Target="../media/image2.png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10" Type="http://schemas.openxmlformats.org/officeDocument/2006/relationships/tags" Target="../tags/tag62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image" Target="../media/image12.png"/><Relationship Id="rId5" Type="http://schemas.openxmlformats.org/officeDocument/2006/relationships/tags" Target="../tags/tag7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74.xml"/><Relationship Id="rId9" Type="http://schemas.openxmlformats.org/officeDocument/2006/relationships/tags" Target="../tags/tag7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80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960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dirty="0" err="1"/>
              <a:t>基于</a:t>
            </a:r>
            <a:r>
              <a:rPr dirty="0"/>
              <a:t> RAG </a:t>
            </a:r>
            <a:r>
              <a:rPr dirty="0" err="1"/>
              <a:t>的角色扮演问答系统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rPr dirty="0" err="1"/>
              <a:t>面向金融</a:t>
            </a:r>
            <a:r>
              <a:rPr dirty="0"/>
              <a:t> PDF / </a:t>
            </a:r>
            <a:r>
              <a:rPr dirty="0" err="1"/>
              <a:t>招股说明书的多模态知识检索与可信生成</a:t>
            </a:r>
            <a:endParaRPr dirty="0"/>
          </a:p>
        </p:txBody>
      </p: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8006715" y="1097915"/>
            <a:ext cx="3474720" cy="1234440"/>
            <a:chOff x="7073" y="6194"/>
            <a:chExt cx="5472" cy="1944"/>
          </a:xfrm>
        </p:grpSpPr>
        <p:sp>
          <p:nvSpPr>
            <p:cNvPr id="4" name="Rounded Rectangle 3"/>
            <p:cNvSpPr/>
            <p:nvPr>
              <p:custDataLst>
                <p:tags r:id="rId9"/>
              </p:custDataLst>
            </p:nvPr>
          </p:nvSpPr>
          <p:spPr>
            <a:xfrm>
              <a:off x="7073" y="6194"/>
              <a:ext cx="5472" cy="1944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>
              <p:custDataLst>
                <p:tags r:id="rId10"/>
              </p:custDataLst>
            </p:nvPr>
          </p:nvSpPr>
          <p:spPr>
            <a:xfrm>
              <a:off x="7332" y="6367"/>
              <a:ext cx="4954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核心目标</a:t>
              </a:r>
            </a:p>
          </p:txBody>
        </p:sp>
        <p:sp>
          <p:nvSpPr>
            <p:cNvPr id="6" name="TextBox 5"/>
            <p:cNvSpPr txBox="1"/>
            <p:nvPr>
              <p:custDataLst>
                <p:tags r:id="rId11"/>
              </p:custDataLst>
            </p:nvPr>
          </p:nvSpPr>
          <p:spPr>
            <a:xfrm>
              <a:off x="7332" y="6885"/>
              <a:ext cx="4954" cy="7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让大模型读懂私有文档，基于证据回答，而不是依赖参数记忆。</a:t>
              </a:r>
            </a:p>
          </p:txBody>
        </p:sp>
      </p:grpSp>
      <p:grpSp>
        <p:nvGrpSpPr>
          <p:cNvPr id="17" name="组合 16"/>
          <p:cNvGrpSpPr/>
          <p:nvPr>
            <p:custDataLst>
              <p:tags r:id="rId2"/>
            </p:custDataLst>
          </p:nvPr>
        </p:nvGrpSpPr>
        <p:grpSpPr>
          <a:xfrm>
            <a:off x="8006715" y="2818130"/>
            <a:ext cx="3474720" cy="1234440"/>
            <a:chOff x="12905" y="6194"/>
            <a:chExt cx="5472" cy="1944"/>
          </a:xfrm>
        </p:grpSpPr>
        <p:sp>
          <p:nvSpPr>
            <p:cNvPr id="7" name="Rounded Rectangle 6"/>
            <p:cNvSpPr/>
            <p:nvPr>
              <p:custDataLst>
                <p:tags r:id="rId6"/>
              </p:custDataLst>
            </p:nvPr>
          </p:nvSpPr>
          <p:spPr>
            <a:xfrm>
              <a:off x="12905" y="6194"/>
              <a:ext cx="5472" cy="1944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>
              <p:custDataLst>
                <p:tags r:id="rId7"/>
              </p:custDataLst>
            </p:nvPr>
          </p:nvSpPr>
          <p:spPr>
            <a:xfrm>
              <a:off x="13164" y="6367"/>
              <a:ext cx="4954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 err="1"/>
                <a:t>技术路线</a:t>
              </a:r>
              <a:endParaRPr dirty="0"/>
            </a:p>
          </p:txBody>
        </p:sp>
        <p:sp>
          <p:nvSpPr>
            <p:cNvPr id="9" name="TextBox 8"/>
            <p:cNvSpPr txBox="1"/>
            <p:nvPr>
              <p:custDataLst>
                <p:tags r:id="rId8"/>
              </p:custDataLst>
            </p:nvPr>
          </p:nvSpPr>
          <p:spPr>
            <a:xfrm>
              <a:off x="13164" y="6885"/>
              <a:ext cx="4954" cy="7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PDF </a:t>
              </a:r>
              <a:r>
                <a:rPr dirty="0" err="1"/>
                <a:t>解析</a:t>
              </a:r>
              <a:r>
                <a:rPr dirty="0"/>
                <a:t> → Chunk → Embedding → Milvus → Hybrid </a:t>
              </a:r>
              <a:r>
                <a:rPr dirty="0" err="1"/>
                <a:t>检索</a:t>
              </a:r>
              <a:r>
                <a:rPr dirty="0"/>
                <a:t> → Rerank → LLM。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063905" y="4538345"/>
            <a:ext cx="3360420" cy="1322705"/>
            <a:chOff x="14114" y="6584"/>
            <a:chExt cx="5112" cy="1944"/>
          </a:xfrm>
        </p:grpSpPr>
        <p:sp>
          <p:nvSpPr>
            <p:cNvPr id="10" name="Rounded Rectangle 9"/>
            <p:cNvSpPr/>
            <p:nvPr>
              <p:custDataLst>
                <p:tags r:id="rId3"/>
              </p:custDataLst>
            </p:nvPr>
          </p:nvSpPr>
          <p:spPr>
            <a:xfrm>
              <a:off x="14114" y="6584"/>
              <a:ext cx="5112" cy="1944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>
              <p:custDataLst>
                <p:tags r:id="rId4"/>
              </p:custDataLst>
            </p:nvPr>
          </p:nvSpPr>
          <p:spPr>
            <a:xfrm>
              <a:off x="14286" y="6757"/>
              <a:ext cx="4594" cy="4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应用场景</a:t>
              </a:r>
            </a:p>
          </p:txBody>
        </p:sp>
        <p:sp>
          <p:nvSpPr>
            <p:cNvPr id="12" name="TextBox 11"/>
            <p:cNvSpPr txBox="1"/>
            <p:nvPr>
              <p:custDataLst>
                <p:tags r:id="rId5"/>
              </p:custDataLst>
            </p:nvPr>
          </p:nvSpPr>
          <p:spPr>
            <a:xfrm>
              <a:off x="14286" y="7275"/>
              <a:ext cx="4594" cy="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角色对话、招股书问答、财务数据查询、股权关系分析。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777240" y="5989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/>
              <a:t>汇报人：2309A_nlp-李学远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47115" y="2194560"/>
            <a:ext cx="4352290" cy="31572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</a:pPr>
            <a:r>
              <a:rPr lang="zh-CN" altLang="en-US" b="1" i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rriweather"/>
                <a:ea typeface="Merriweather"/>
              </a:rPr>
              <a:t>我做的这个项目是一个基于 </a:t>
            </a:r>
            <a:r>
              <a:rPr lang="en-US" altLang="zh-CN" b="1" i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rriweather"/>
                <a:ea typeface="Merriweather"/>
              </a:rPr>
              <a:t>RAG </a:t>
            </a:r>
            <a:r>
              <a:rPr lang="zh-CN" altLang="en-US" b="1" i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rriweather"/>
                <a:ea typeface="Merriweather"/>
              </a:rPr>
              <a:t>的角色扮演问答系统，核心目标是让大模型基于上传的 </a:t>
            </a:r>
            <a:r>
              <a:rPr lang="en-US" altLang="zh-CN" b="1" i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rriweather"/>
                <a:ea typeface="Merriweather"/>
              </a:rPr>
              <a:t>PDF</a:t>
            </a:r>
            <a:r>
              <a:rPr lang="zh-CN" altLang="en-US" b="1" i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rriweather"/>
                <a:ea typeface="Merriweather"/>
              </a:rPr>
              <a:t>、招股说明书、金融文档进行可信回答，而不是只依赖模型自己的参数知识。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4" presetClass="emph" presetSubtype="0" fill="hold" grpId="4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1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36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364" fill="hold">
                                          <p:stCondLst>
                                            <p:cond delay="3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6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25" decel="50000" autoRev="1" fill="hold">
                                          <p:stCondLst>
                                            <p:cond delay="3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9" fill="hold">
                                          <p:stCondLst>
                                            <p:cond delay="691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100"/>
                            </p:stCondLst>
                            <p:childTnLst>
                              <p:par>
                                <p:cTn id="3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8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9" dur="15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0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1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4" build="allAtOnce"/>
      <p:bldP spid="3" grpId="4"/>
      <p:bldP spid="13" grpId="0"/>
      <p:bldP spid="15" grpId="1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958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dirty="0" err="1"/>
              <a:t>目录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3856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 err="1"/>
              <a:t>从项目问题、系统设计、关键技术到测试部署逐层展开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775192" y="123444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rPr dirty="0"/>
              <a:t>01</a:t>
            </a: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1460992" y="1234440"/>
            <a:ext cx="29260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dirty="0">
                <a:hlinkClick r:id="rId30" action="ppaction://hlinksldjump"/>
              </a:rPr>
              <a:t>研究背景与问题</a:t>
            </a:r>
            <a:endParaRPr dirty="0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4158472" y="1261872"/>
            <a:ext cx="694944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dirty="0" err="1"/>
              <a:t>传统</a:t>
            </a:r>
            <a:r>
              <a:rPr dirty="0"/>
              <a:t> LLM </a:t>
            </a:r>
            <a:r>
              <a:rPr dirty="0" err="1"/>
              <a:t>无法可靠回答私有文档问题，幻觉</a:t>
            </a:r>
            <a:r>
              <a:rPr lang="zh-CN" dirty="0"/>
              <a:t>率高</a:t>
            </a:r>
            <a:r>
              <a:rPr dirty="0" err="1"/>
              <a:t>且缺少出处</a:t>
            </a:r>
            <a:r>
              <a:rPr dirty="0"/>
              <a:t>。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775192" y="178467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1460992" y="1784670"/>
            <a:ext cx="29260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lang="en-US" altLang="zh-CN" sz="1700" b="1" dirty="0">
                <a:solidFill>
                  <a:srgbClr val="182D5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1" action="ppaction://hlinksldjump"/>
              </a:rPr>
              <a:t>13</a:t>
            </a:r>
            <a:r>
              <a:rPr lang="zh-CN" altLang="en-US" sz="1700" b="1" dirty="0">
                <a:solidFill>
                  <a:srgbClr val="182D5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1" action="ppaction://hlinksldjump"/>
              </a:rPr>
              <a:t>个工单演进路线</a:t>
            </a:r>
            <a:endParaRPr dirty="0"/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4158472" y="1812101"/>
            <a:ext cx="694944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从基础 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PDF 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问答起步，逐步增强复杂文档解析、检索质量、图谱推理与工程部署能力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775192" y="232823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rPr dirty="0"/>
              <a:t>03</a:t>
            </a:r>
          </a:p>
        </p:txBody>
      </p:sp>
      <p:sp>
        <p:nvSpPr>
          <p:cNvPr id="12" name="TextBox 11">
            <a:hlinkClick r:id="rId32" action="ppaction://hlinksldjump"/>
          </p:cNvPr>
          <p:cNvSpPr txBox="1"/>
          <p:nvPr>
            <p:custDataLst>
              <p:tags r:id="rId8"/>
            </p:custDataLst>
          </p:nvPr>
        </p:nvSpPr>
        <p:spPr>
          <a:xfrm>
            <a:off x="1369552" y="2328232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32" action="ppaction://hlinksldjump"/>
              </a:rPr>
              <a:t>系统总体架构与</a:t>
            </a:r>
            <a:r>
              <a:rPr sz="1600" dirty="0">
                <a:hlinkClick r:id="rId32" action="ppaction://hlinksldjump"/>
              </a:rPr>
              <a:t>核心技术实现</a:t>
            </a:r>
            <a:endParaRPr sz="1600" dirty="0"/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4158472" y="2355663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dirty="0"/>
              <a:t>PDF 多模态解析、混合检索、多轮记忆、本地重排序。</a:t>
            </a:r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775192" y="2911475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1460992" y="2911475"/>
            <a:ext cx="29260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hlinkClick r:id="rId33" action="ppaction://hlinksldjump"/>
              </a:rPr>
              <a:t>项目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  <a:hlinkClick r:id="rId33" action="ppaction://hlinksldjump"/>
              </a:rPr>
              <a:t>创新点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4158472" y="2938907"/>
            <a:ext cx="694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300" b="0">
                <a:solidFill>
                  <a:srgbClr val="1F2937"/>
                </a:solidFill>
                <a:latin typeface="微软雅黑" panose="020B0503020204020204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不仅是调用大模型，而是围绕可信文档问答构建完整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RAG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工程体系</a:t>
            </a:r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775192" y="349557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rPr dirty="0"/>
              <a:t>05</a:t>
            </a:r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1460992" y="3495572"/>
            <a:ext cx="29260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hlinkClick r:id="rId34" action="ppaction://hlinksldjump"/>
              </a:rPr>
              <a:t>关键技术难点与解决方案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4158472" y="3523004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dirty="0"/>
              <a:t>从准确性、可追溯性、性能和可扩展性验证系统效果。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1F4EAA62-3231-C699-90FD-FB1BB748612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775192" y="4707678"/>
            <a:ext cx="594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rPr dirty="0"/>
              <a:t>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1B3F747A-B9B8-E9DB-74D5-571FC44047C9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460992" y="4707678"/>
            <a:ext cx="29260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hlinkClick r:id="rId35" action="ppaction://hlinksldjump"/>
              </a:rPr>
              <a:t>系统部署与工程化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0CEEDEFA-50ED-B5C4-1EBA-FEEC950074AB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4158472" y="4735110"/>
            <a:ext cx="6949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lang="zh-CN" altLang="en-US" sz="13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通过容器化和分层配置提升系统可运行、可维护、可扩展能力</a:t>
            </a: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DC093982-C0AD-F9AF-FE5D-962603D36D3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775192" y="5931027"/>
            <a:ext cx="594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rPr dirty="0"/>
              <a:t>0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8C7F87AD-1C63-FA13-9137-E96C750707FB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460992" y="5931027"/>
            <a:ext cx="29260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hlinkClick r:id="rId36" action="ppaction://hlinksldjump"/>
              </a:rPr>
              <a:t>总结与后续优化方案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2D65B5F5-F10B-1D95-1F0E-563A5F4768BB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158472" y="5958459"/>
            <a:ext cx="694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300" b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项目完成了从基础 </a:t>
            </a:r>
            <a:r>
              <a:rPr lang="en-US" altLang="zh-CN" dirty="0"/>
              <a:t>RAG </a:t>
            </a:r>
            <a:r>
              <a:rPr lang="zh-CN" altLang="en-US" dirty="0"/>
              <a:t>到多路检索增强角色问答系统的完整实现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88589824-A013-0DF4-9F0F-DF97102183C7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775192" y="5319714"/>
            <a:ext cx="594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rPr dirty="0"/>
              <a:t>0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022EEB64-1DCF-FAD9-D50F-F7CF9F1BF700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460992" y="5319714"/>
            <a:ext cx="29260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lang="zh-CN" altLang="en-US" sz="1700" b="1" dirty="0">
                <a:solidFill>
                  <a:srgbClr val="182D5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7" action="ppaction://hlinksldjump"/>
              </a:rPr>
              <a:t>聊天请求处理全</a:t>
            </a:r>
            <a:r>
              <a:rPr dirty="0">
                <a:hlinkClick r:id="rId37" action="ppaction://hlinksldjump"/>
              </a:rPr>
              <a:t>流程</a:t>
            </a:r>
            <a:endParaRPr dirty="0"/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0414D568-9EDB-58BC-8FAE-5D5EC0D651F7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4158472" y="5347145"/>
            <a:ext cx="694944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dirty="0" err="1"/>
              <a:t>FastAPI</a:t>
            </a:r>
            <a:r>
              <a:rPr dirty="0"/>
              <a:t> + React </a:t>
            </a:r>
            <a:r>
              <a:rPr lang="en-US" dirty="0"/>
              <a:t>-&gt;</a:t>
            </a:r>
            <a:r>
              <a:rPr dirty="0"/>
              <a:t> MySQL + Redis + Milvus + Neo4j </a:t>
            </a:r>
            <a:r>
              <a:rPr lang="en-US" dirty="0">
                <a:sym typeface="+mn-ea"/>
              </a:rPr>
              <a:t>-&gt;</a:t>
            </a:r>
            <a:r>
              <a:rPr dirty="0"/>
              <a:t> LLM。</a:t>
            </a: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16294331-7A58-5DC4-F860-4D68F335558C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75192" y="4101625"/>
            <a:ext cx="594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rPr dirty="0"/>
              <a:t>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14CD8DC3-2F9B-4A51-970A-95831FFE8960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1460992" y="4101625"/>
            <a:ext cx="29260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hlinkClick r:id="rId38" action="ppaction://hlinksldjump"/>
              </a:rPr>
              <a:t>测试评估与性能优化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D0C5BA2D-BA5E-4B3E-0D6B-3C179BC5898C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4158472" y="4129057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937"/>
                </a:solidFill>
                <a:latin typeface="微软雅黑" panose="020B0503020204020204" charset="-122"/>
              </a:defRPr>
            </a:pPr>
            <a:r>
              <a:rPr dirty="0"/>
              <a:t>从准确性、可追溯性、性能和可扩展性验证系统效果。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0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5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30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500"/>
                            </p:stCondLst>
                            <p:childTnLst>
                              <p:par>
                                <p:cTn id="1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40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500"/>
                            </p:stCondLst>
                            <p:childTnLst>
                              <p:par>
                                <p:cTn id="1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0"/>
                            </p:stCondLst>
                            <p:childTnLst>
                              <p:par>
                                <p:cTn id="17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500"/>
                            </p:stCondLst>
                            <p:childTnLst>
                              <p:par>
                                <p:cTn id="18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6000"/>
                            </p:stCondLst>
                            <p:childTnLst>
                              <p:par>
                                <p:cTn id="18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6500"/>
                            </p:stCondLst>
                            <p:childTnLst>
                              <p:par>
                                <p:cTn id="19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7000"/>
                            </p:stCondLst>
                            <p:childTnLst>
                              <p:par>
                                <p:cTn id="2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7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8000"/>
                            </p:stCondLst>
                            <p:childTnLst>
                              <p:par>
                                <p:cTn id="20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t>项目背景：为什么需要 RAG？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面向私有文档问答时，纯大模型存在知识缺失、幻觉和不可溯源问题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1138C23-6333-F55B-2D91-D99596A47738}"/>
              </a:ext>
            </a:extLst>
          </p:cNvPr>
          <p:cNvGrpSpPr/>
          <p:nvPr/>
        </p:nvGrpSpPr>
        <p:grpSpPr>
          <a:xfrm>
            <a:off x="685800" y="1234440"/>
            <a:ext cx="3383280" cy="1234440"/>
            <a:chOff x="685800" y="1234440"/>
            <a:chExt cx="3383280" cy="1234440"/>
          </a:xfrm>
        </p:grpSpPr>
        <p:sp>
          <p:nvSpPr>
            <p:cNvPr id="5" name="Rounded Rectangle 4"/>
            <p:cNvSpPr/>
            <p:nvPr/>
          </p:nvSpPr>
          <p:spPr>
            <a:xfrm>
              <a:off x="685800" y="1234440"/>
              <a:ext cx="3383280" cy="1234440"/>
            </a:xfrm>
            <a:prstGeom prst="roundRect">
              <a:avLst/>
            </a:prstGeom>
            <a:solidFill>
              <a:srgbClr val="FEF2F2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50392" y="1344168"/>
              <a:ext cx="305409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传统 LLM 的问题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50392" y="1673352"/>
              <a:ext cx="3054096" cy="7040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不知道用户上传的私有文档；容易编造财务数据；无法准确引用原文出处。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65A527F-974A-BEA2-C6E9-1A67C3DD3460}"/>
              </a:ext>
            </a:extLst>
          </p:cNvPr>
          <p:cNvGrpSpPr/>
          <p:nvPr/>
        </p:nvGrpSpPr>
        <p:grpSpPr>
          <a:xfrm>
            <a:off x="4434840" y="1234440"/>
            <a:ext cx="3383280" cy="1234440"/>
            <a:chOff x="4434840" y="1234440"/>
            <a:chExt cx="3383280" cy="1234440"/>
          </a:xfrm>
        </p:grpSpPr>
        <p:sp>
          <p:nvSpPr>
            <p:cNvPr id="8" name="Rounded Rectangle 7"/>
            <p:cNvSpPr/>
            <p:nvPr/>
          </p:nvSpPr>
          <p:spPr>
            <a:xfrm>
              <a:off x="4434840" y="1234440"/>
              <a:ext cx="3383280" cy="123444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99431" y="1344168"/>
              <a:ext cx="305409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RAG 的核心思想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99431" y="1673352"/>
              <a:ext cx="3054096" cy="7040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先检索文档证据，再把证据交给 LLM 生成答案，实现可控、可信、可溯源。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10A37C2-2C77-541B-8AA3-1B48CE51E30F}"/>
              </a:ext>
            </a:extLst>
          </p:cNvPr>
          <p:cNvGrpSpPr/>
          <p:nvPr/>
        </p:nvGrpSpPr>
        <p:grpSpPr>
          <a:xfrm>
            <a:off x="8183879" y="1234440"/>
            <a:ext cx="3337560" cy="1234440"/>
            <a:chOff x="8183879" y="1234440"/>
            <a:chExt cx="3337560" cy="1234440"/>
          </a:xfrm>
        </p:grpSpPr>
        <p:sp>
          <p:nvSpPr>
            <p:cNvPr id="11" name="Rounded Rectangle 10"/>
            <p:cNvSpPr/>
            <p:nvPr/>
          </p:nvSpPr>
          <p:spPr>
            <a:xfrm>
              <a:off x="8183879" y="1234440"/>
              <a:ext cx="3337560" cy="123444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348471" y="1344168"/>
              <a:ext cx="300837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本项目目标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348471" y="1673352"/>
              <a:ext cx="3008376" cy="7040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让角色能够基于 PDF、表格、图像、图谱和历史对话进行可靠回答。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9B09326-4525-0206-DDC7-954058D35FD9}"/>
              </a:ext>
            </a:extLst>
          </p:cNvPr>
          <p:cNvGrpSpPr/>
          <p:nvPr/>
        </p:nvGrpSpPr>
        <p:grpSpPr>
          <a:xfrm>
            <a:off x="804672" y="2708148"/>
            <a:ext cx="10424160" cy="1280160"/>
            <a:chOff x="914400" y="4343400"/>
            <a:chExt cx="10424160" cy="1280160"/>
          </a:xfrm>
        </p:grpSpPr>
        <p:sp>
          <p:nvSpPr>
            <p:cNvPr id="15" name="TextBox 14"/>
            <p:cNvSpPr txBox="1"/>
            <p:nvPr/>
          </p:nvSpPr>
          <p:spPr>
            <a:xfrm>
              <a:off x="914400" y="4343400"/>
              <a:ext cx="104241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7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 err="1"/>
                <a:t>项目价值</a:t>
              </a:r>
              <a:endParaRPr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4400" y="4754880"/>
              <a:ext cx="10424160" cy="8686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降低幻觉：回答必须依赖检索上下文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支持私有知识：上传</a:t>
              </a:r>
              <a:r>
                <a:rPr dirty="0"/>
                <a:t> PDF </a:t>
              </a:r>
              <a:r>
                <a:rPr dirty="0" err="1"/>
                <a:t>后即可成为角色知识库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便于答辩追溯：每个答案可对应检索来源与代码模块</a:t>
              </a:r>
              <a:r>
                <a:rPr dirty="0"/>
                <a:t>。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9EB055D-5B87-1072-7C72-02B25A0E678E}"/>
              </a:ext>
            </a:extLst>
          </p:cNvPr>
          <p:cNvGrpSpPr/>
          <p:nvPr/>
        </p:nvGrpSpPr>
        <p:grpSpPr>
          <a:xfrm>
            <a:off x="417576" y="4537881"/>
            <a:ext cx="10552176" cy="1876635"/>
            <a:chOff x="417576" y="4537881"/>
            <a:chExt cx="10552176" cy="1876635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3E2E21E1-37D5-0EB5-DC98-D76A8D9F9E0B}"/>
                </a:ext>
              </a:extLst>
            </p:cNvPr>
            <p:cNvPicPr>
              <a:picLocks/>
            </p:cNvPicPr>
            <p:nvPr/>
          </p:nvPicPr>
          <p:blipFill>
            <a:blip r:embed="rId2"/>
            <a:srcRect t="17630"/>
            <a:stretch>
              <a:fillRect/>
            </a:stretch>
          </p:blipFill>
          <p:spPr>
            <a:xfrm>
              <a:off x="417576" y="4840224"/>
              <a:ext cx="10552176" cy="1574292"/>
            </a:xfrm>
            <a:prstGeom prst="round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8B65DF8-958E-769B-B6CA-85B17589ED7F}"/>
                </a:ext>
              </a:extLst>
            </p:cNvPr>
            <p:cNvSpPr txBox="1"/>
            <p:nvPr/>
          </p:nvSpPr>
          <p:spPr>
            <a:xfrm>
              <a:off x="502920" y="4537881"/>
              <a:ext cx="2820310" cy="382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项目基础流程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t>13 个工单演进路线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从基础 RAG 到复杂文档、多轮理解、图谱增强和性能优化的渐进式建设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A69AE0E-9674-428A-F00B-19C36BFE1672}"/>
              </a:ext>
            </a:extLst>
          </p:cNvPr>
          <p:cNvGrpSpPr/>
          <p:nvPr/>
        </p:nvGrpSpPr>
        <p:grpSpPr>
          <a:xfrm>
            <a:off x="594360" y="1234440"/>
            <a:ext cx="2514600" cy="777240"/>
            <a:chOff x="594360" y="1234440"/>
            <a:chExt cx="2514600" cy="777240"/>
          </a:xfrm>
        </p:grpSpPr>
        <p:sp>
          <p:nvSpPr>
            <p:cNvPr id="5" name="Rounded Rectangle 4"/>
            <p:cNvSpPr/>
            <p:nvPr/>
          </p:nvSpPr>
          <p:spPr>
            <a:xfrm>
              <a:off x="594360" y="1234440"/>
              <a:ext cx="2514600" cy="77724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58952" y="1344168"/>
              <a:ext cx="218541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/>
                <a:t>01 </a:t>
              </a:r>
              <a:r>
                <a:rPr dirty="0" err="1"/>
                <a:t>基础</a:t>
              </a:r>
              <a:r>
                <a:rPr dirty="0"/>
                <a:t> PDF </a:t>
              </a:r>
              <a:r>
                <a:rPr dirty="0" err="1"/>
                <a:t>问答</a:t>
              </a:r>
              <a:endParaRPr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58952" y="1673352"/>
              <a:ext cx="2185416" cy="267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/>
                <a:t>✅ 已完成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04284AAA-53BA-9BD3-6DEC-2A542620661A}"/>
              </a:ext>
            </a:extLst>
          </p:cNvPr>
          <p:cNvGrpSpPr/>
          <p:nvPr/>
        </p:nvGrpSpPr>
        <p:grpSpPr>
          <a:xfrm>
            <a:off x="3429000" y="1234440"/>
            <a:ext cx="2514600" cy="777240"/>
            <a:chOff x="3429000" y="1234440"/>
            <a:chExt cx="2514600" cy="777240"/>
          </a:xfrm>
        </p:grpSpPr>
        <p:sp>
          <p:nvSpPr>
            <p:cNvPr id="8" name="Rounded Rectangle 7"/>
            <p:cNvSpPr/>
            <p:nvPr/>
          </p:nvSpPr>
          <p:spPr>
            <a:xfrm>
              <a:off x="3429000" y="1234440"/>
              <a:ext cx="2514600" cy="77724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593592" y="1344168"/>
              <a:ext cx="21854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/>
                <a:t>02 </a:t>
              </a:r>
              <a:r>
                <a:rPr dirty="0" err="1"/>
                <a:t>检索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效果</a:t>
              </a:r>
              <a:r>
                <a:rPr dirty="0" err="1"/>
                <a:t>优化</a:t>
              </a:r>
              <a:endParaRPr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93592" y="1673352"/>
              <a:ext cx="2185416" cy="267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/>
                <a:t>✅ 已完成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1DF97BC1-F3CE-6121-79A5-AC146C43D27A}"/>
              </a:ext>
            </a:extLst>
          </p:cNvPr>
          <p:cNvGrpSpPr/>
          <p:nvPr/>
        </p:nvGrpSpPr>
        <p:grpSpPr>
          <a:xfrm>
            <a:off x="6263640" y="1234440"/>
            <a:ext cx="2514600" cy="777240"/>
            <a:chOff x="6263640" y="1234440"/>
            <a:chExt cx="2514600" cy="777240"/>
          </a:xfrm>
        </p:grpSpPr>
        <p:sp>
          <p:nvSpPr>
            <p:cNvPr id="11" name="Rounded Rectangle 10"/>
            <p:cNvSpPr/>
            <p:nvPr/>
          </p:nvSpPr>
          <p:spPr>
            <a:xfrm>
              <a:off x="6263640" y="1234440"/>
              <a:ext cx="2514600" cy="77724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28232" y="1344168"/>
              <a:ext cx="218541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/>
                <a:t>03 </a:t>
              </a:r>
              <a:r>
                <a:rPr dirty="0" err="1"/>
                <a:t>表格解析</a:t>
              </a:r>
              <a:endParaRPr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28232" y="1673352"/>
              <a:ext cx="2185416" cy="267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/>
                <a:t>✅ 已完成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0638CE95-6523-9702-F7E8-E355E2AF64BF}"/>
              </a:ext>
            </a:extLst>
          </p:cNvPr>
          <p:cNvGrpSpPr/>
          <p:nvPr/>
        </p:nvGrpSpPr>
        <p:grpSpPr>
          <a:xfrm>
            <a:off x="9098280" y="1234440"/>
            <a:ext cx="2514600" cy="777240"/>
            <a:chOff x="9098280" y="1234440"/>
            <a:chExt cx="2514600" cy="777240"/>
          </a:xfrm>
        </p:grpSpPr>
        <p:sp>
          <p:nvSpPr>
            <p:cNvPr id="14" name="Rounded Rectangle 13"/>
            <p:cNvSpPr/>
            <p:nvPr/>
          </p:nvSpPr>
          <p:spPr>
            <a:xfrm>
              <a:off x="9098280" y="1234440"/>
              <a:ext cx="2514600" cy="77724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262872" y="1344168"/>
              <a:ext cx="218541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04 图像解析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262872" y="1673352"/>
              <a:ext cx="2185416" cy="267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/>
                <a:t>✅ 已完成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BD31009D-FEF9-FD21-3396-260955D0DF52}"/>
              </a:ext>
            </a:extLst>
          </p:cNvPr>
          <p:cNvGrpSpPr/>
          <p:nvPr/>
        </p:nvGrpSpPr>
        <p:grpSpPr>
          <a:xfrm>
            <a:off x="594360" y="2532888"/>
            <a:ext cx="2514600" cy="777240"/>
            <a:chOff x="594360" y="2532888"/>
            <a:chExt cx="2514600" cy="777240"/>
          </a:xfrm>
        </p:grpSpPr>
        <p:sp>
          <p:nvSpPr>
            <p:cNvPr id="17" name="Rounded Rectangle 16"/>
            <p:cNvSpPr/>
            <p:nvPr/>
          </p:nvSpPr>
          <p:spPr>
            <a:xfrm>
              <a:off x="594360" y="2532888"/>
              <a:ext cx="2514600" cy="77724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58952" y="2642616"/>
              <a:ext cx="21854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/>
                <a:t>05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意图识别</a:t>
              </a:r>
              <a:r>
                <a:rPr dirty="0" err="1"/>
                <a:t>理解</a:t>
              </a:r>
              <a:endParaRPr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58952" y="2971800"/>
              <a:ext cx="2185416" cy="267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/>
                <a:t>✅ 已完成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46349ED-C2DE-6E4C-5010-A13D8295DFC7}"/>
              </a:ext>
            </a:extLst>
          </p:cNvPr>
          <p:cNvGrpSpPr/>
          <p:nvPr/>
        </p:nvGrpSpPr>
        <p:grpSpPr>
          <a:xfrm>
            <a:off x="3429000" y="2532888"/>
            <a:ext cx="2514600" cy="777240"/>
            <a:chOff x="3429000" y="2532888"/>
            <a:chExt cx="2514600" cy="777240"/>
          </a:xfrm>
        </p:grpSpPr>
        <p:sp>
          <p:nvSpPr>
            <p:cNvPr id="20" name="Rounded Rectangle 19"/>
            <p:cNvSpPr/>
            <p:nvPr/>
          </p:nvSpPr>
          <p:spPr>
            <a:xfrm>
              <a:off x="3429000" y="2532888"/>
              <a:ext cx="2514600" cy="77724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593592" y="2642616"/>
              <a:ext cx="21854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/>
                <a:t>06 </a:t>
              </a:r>
              <a:r>
                <a:rPr dirty="0" err="1"/>
                <a:t>混合检索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增强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593592" y="2971800"/>
              <a:ext cx="2185416" cy="267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 dirty="0"/>
                <a:t>✅ 已完成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BA87D29D-AF37-3166-5473-A2614B050883}"/>
              </a:ext>
            </a:extLst>
          </p:cNvPr>
          <p:cNvGrpSpPr/>
          <p:nvPr/>
        </p:nvGrpSpPr>
        <p:grpSpPr>
          <a:xfrm>
            <a:off x="6263640" y="2532888"/>
            <a:ext cx="2514600" cy="777240"/>
            <a:chOff x="6263640" y="2532888"/>
            <a:chExt cx="2514600" cy="777240"/>
          </a:xfrm>
        </p:grpSpPr>
        <p:sp>
          <p:nvSpPr>
            <p:cNvPr id="23" name="Rounded Rectangle 22"/>
            <p:cNvSpPr/>
            <p:nvPr/>
          </p:nvSpPr>
          <p:spPr>
            <a:xfrm>
              <a:off x="6263640" y="2532888"/>
              <a:ext cx="2514600" cy="77724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28232" y="2642616"/>
              <a:ext cx="21854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/>
                <a:t>07 </a:t>
              </a:r>
              <a:r>
                <a:rPr dirty="0" err="1"/>
                <a:t>功能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测试</a:t>
              </a:r>
              <a:r>
                <a:rPr dirty="0" err="1"/>
                <a:t>评估</a:t>
              </a:r>
              <a:endParaRPr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28232" y="2971800"/>
              <a:ext cx="2185416" cy="269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/>
                <a:t>✅ 已完成</a:t>
              </a:r>
              <a:endParaRPr lang="zh-CN" altLang="en-US" dirty="0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8E28132D-888C-5413-E827-78ADF95ED617}"/>
              </a:ext>
            </a:extLst>
          </p:cNvPr>
          <p:cNvGrpSpPr/>
          <p:nvPr/>
        </p:nvGrpSpPr>
        <p:grpSpPr>
          <a:xfrm>
            <a:off x="9098280" y="2532888"/>
            <a:ext cx="2514600" cy="777240"/>
            <a:chOff x="9098280" y="2532888"/>
            <a:chExt cx="2514600" cy="777240"/>
          </a:xfrm>
        </p:grpSpPr>
        <p:sp>
          <p:nvSpPr>
            <p:cNvPr id="26" name="Rounded Rectangle 25"/>
            <p:cNvSpPr/>
            <p:nvPr/>
          </p:nvSpPr>
          <p:spPr>
            <a:xfrm>
              <a:off x="9098280" y="2532888"/>
              <a:ext cx="2514600" cy="77724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262872" y="2642616"/>
              <a:ext cx="21854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08 Graph</a:t>
              </a: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neo4j</a:t>
              </a: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+RAG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262872" y="2971800"/>
              <a:ext cx="2185416" cy="269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✅ 已完成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F1E997D8-38C9-4500-D555-72C94B17285A}"/>
              </a:ext>
            </a:extLst>
          </p:cNvPr>
          <p:cNvGrpSpPr/>
          <p:nvPr/>
        </p:nvGrpSpPr>
        <p:grpSpPr>
          <a:xfrm>
            <a:off x="594360" y="3831335"/>
            <a:ext cx="2514600" cy="777240"/>
            <a:chOff x="594360" y="3831335"/>
            <a:chExt cx="2514600" cy="777240"/>
          </a:xfrm>
        </p:grpSpPr>
        <p:sp>
          <p:nvSpPr>
            <p:cNvPr id="29" name="Rounded Rectangle 28"/>
            <p:cNvSpPr/>
            <p:nvPr/>
          </p:nvSpPr>
          <p:spPr>
            <a:xfrm>
              <a:off x="594360" y="3831335"/>
              <a:ext cx="2514600" cy="77724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58952" y="3941063"/>
              <a:ext cx="218541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09 图谱优化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58952" y="4270248"/>
              <a:ext cx="2185416" cy="269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/>
                <a:t>📌 方案/后续</a:t>
              </a:r>
              <a:endParaRPr lang="zh-CN" altLang="en-US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241C4B33-1B2A-42B9-29E7-351D38EC7058}"/>
              </a:ext>
            </a:extLst>
          </p:cNvPr>
          <p:cNvGrpSpPr/>
          <p:nvPr/>
        </p:nvGrpSpPr>
        <p:grpSpPr>
          <a:xfrm>
            <a:off x="3429000" y="3831335"/>
            <a:ext cx="2514600" cy="777240"/>
            <a:chOff x="3429000" y="3831335"/>
            <a:chExt cx="2514600" cy="777240"/>
          </a:xfrm>
        </p:grpSpPr>
        <p:sp>
          <p:nvSpPr>
            <p:cNvPr id="32" name="Rounded Rectangle 31"/>
            <p:cNvSpPr/>
            <p:nvPr/>
          </p:nvSpPr>
          <p:spPr>
            <a:xfrm>
              <a:off x="3429000" y="3831335"/>
              <a:ext cx="2514600" cy="77724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593592" y="3941063"/>
              <a:ext cx="21854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/>
                <a:t>10 </a:t>
              </a: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Docker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生产</a:t>
              </a:r>
              <a:r>
                <a:rPr dirty="0" err="1"/>
                <a:t>部署</a:t>
              </a:r>
              <a:endParaRPr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93592" y="4270248"/>
              <a:ext cx="2185416" cy="267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/>
                <a:t>📌 方案/后续</a:t>
              </a: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BE68679-9BB6-30F9-C63E-7F5174BB038B}"/>
              </a:ext>
            </a:extLst>
          </p:cNvPr>
          <p:cNvGrpSpPr/>
          <p:nvPr/>
        </p:nvGrpSpPr>
        <p:grpSpPr>
          <a:xfrm>
            <a:off x="6263640" y="3831335"/>
            <a:ext cx="2514600" cy="777240"/>
            <a:chOff x="6263640" y="3831335"/>
            <a:chExt cx="2514600" cy="777240"/>
          </a:xfrm>
        </p:grpSpPr>
        <p:sp>
          <p:nvSpPr>
            <p:cNvPr id="35" name="Rounded Rectangle 34"/>
            <p:cNvSpPr/>
            <p:nvPr/>
          </p:nvSpPr>
          <p:spPr>
            <a:xfrm>
              <a:off x="6263640" y="3831335"/>
              <a:ext cx="2514600" cy="777240"/>
            </a:xfrm>
            <a:prstGeom prst="roundRect">
              <a:avLst/>
            </a:prstGeom>
            <a:solidFill>
              <a:srgbClr val="F5F3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28232" y="3941063"/>
              <a:ext cx="2185416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sz="1350" dirty="0"/>
                <a:t>11 Embedding </a:t>
              </a: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</a:t>
              </a:r>
              <a:r>
                <a:rPr sz="1350" dirty="0" err="1"/>
                <a:t>微调</a:t>
              </a:r>
              <a:endParaRPr sz="135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428232" y="4270248"/>
              <a:ext cx="2185416" cy="267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 dirty="0"/>
                <a:t>📌 方案/后续</a:t>
              </a: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B42820A0-BB7F-C7D9-ECB4-2866338D28F0}"/>
              </a:ext>
            </a:extLst>
          </p:cNvPr>
          <p:cNvGrpSpPr/>
          <p:nvPr/>
        </p:nvGrpSpPr>
        <p:grpSpPr>
          <a:xfrm>
            <a:off x="9098280" y="3831335"/>
            <a:ext cx="2514600" cy="777240"/>
            <a:chOff x="9098280" y="3831335"/>
            <a:chExt cx="2514600" cy="777240"/>
          </a:xfrm>
        </p:grpSpPr>
        <p:sp>
          <p:nvSpPr>
            <p:cNvPr id="38" name="Rounded Rectangle 37"/>
            <p:cNvSpPr/>
            <p:nvPr/>
          </p:nvSpPr>
          <p:spPr>
            <a:xfrm>
              <a:off x="9098280" y="3831335"/>
              <a:ext cx="2514600" cy="777240"/>
            </a:xfrm>
            <a:prstGeom prst="roundRect">
              <a:avLst/>
            </a:prstGeom>
            <a:solidFill>
              <a:srgbClr val="F5F3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262872" y="3941063"/>
              <a:ext cx="218541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12 LightRAG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262872" y="4270248"/>
              <a:ext cx="2185416" cy="2693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/>
                <a:t>📌 方案/后续</a:t>
              </a:r>
              <a:endParaRPr lang="zh-CN" altLang="en-US" dirty="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758952" y="5568696"/>
            <a:ext cx="21854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F2937"/>
                </a:solidFill>
                <a:latin typeface="微软雅黑" panose="020B0503020204020204" charset="-122"/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66960" y="647395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/>
              <a:t>0</a:t>
            </a:r>
            <a:r>
              <a:rPr lang="en-US" dirty="0"/>
              <a:t>4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76B472DB-AC15-180C-7175-F86CDD9BC86D}"/>
              </a:ext>
            </a:extLst>
          </p:cNvPr>
          <p:cNvGrpSpPr/>
          <p:nvPr/>
        </p:nvGrpSpPr>
        <p:grpSpPr>
          <a:xfrm>
            <a:off x="594360" y="5084445"/>
            <a:ext cx="11019155" cy="859155"/>
            <a:chOff x="594360" y="5084445"/>
            <a:chExt cx="11019155" cy="859155"/>
          </a:xfrm>
        </p:grpSpPr>
        <p:sp>
          <p:nvSpPr>
            <p:cNvPr id="41" name="Rounded Rectangle 40"/>
            <p:cNvSpPr/>
            <p:nvPr/>
          </p:nvSpPr>
          <p:spPr>
            <a:xfrm>
              <a:off x="594360" y="5084445"/>
              <a:ext cx="11019155" cy="859155"/>
            </a:xfrm>
            <a:prstGeom prst="roundRect">
              <a:avLst/>
            </a:prstGeom>
            <a:solidFill>
              <a:srgbClr val="F5F3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58952" y="5239512"/>
              <a:ext cx="218541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13 性能优化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31520" y="5532120"/>
              <a:ext cx="1078992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5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演进逻辑：先跑通 RAG 主链路，再解决复杂文档和多轮语义问题，最后引入图谱增强、容器化部署和性能优化。</a:t>
              </a:r>
            </a:p>
          </p:txBody>
        </p:sp>
        <p:sp>
          <p:nvSpPr>
            <p:cNvPr id="58" name="TextBox 36">
              <a:extLst>
                <a:ext uri="{FF2B5EF4-FFF2-40B4-BE49-F238E27FC236}">
                  <a16:creationId xmlns:a16="http://schemas.microsoft.com/office/drawing/2014/main" id="{FED645AA-2F3A-9F78-EECF-83537C687A8A}"/>
                </a:ext>
              </a:extLst>
            </p:cNvPr>
            <p:cNvSpPr txBox="1"/>
            <p:nvPr/>
          </p:nvSpPr>
          <p:spPr>
            <a:xfrm>
              <a:off x="2016252" y="5245862"/>
              <a:ext cx="2185416" cy="267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 dirty="0"/>
                <a:t>📌 方案/后续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6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6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5" presetID="26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1" presetID="26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7" presetID="26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dirty="0"/>
              <a:t>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前端交互、后端编排、检索增强、模型生成和基础设施五层解耦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BB24927-C407-195E-63E0-AE795D45D0ED}"/>
              </a:ext>
            </a:extLst>
          </p:cNvPr>
          <p:cNvGrpSpPr/>
          <p:nvPr/>
        </p:nvGrpSpPr>
        <p:grpSpPr>
          <a:xfrm>
            <a:off x="502920" y="1234440"/>
            <a:ext cx="1920240" cy="960120"/>
            <a:chOff x="502920" y="1234440"/>
            <a:chExt cx="1920240" cy="960120"/>
          </a:xfrm>
        </p:grpSpPr>
        <p:sp>
          <p:nvSpPr>
            <p:cNvPr id="5" name="Rounded Rectangle 4"/>
            <p:cNvSpPr/>
            <p:nvPr/>
          </p:nvSpPr>
          <p:spPr>
            <a:xfrm>
              <a:off x="502920" y="1234440"/>
              <a:ext cx="1920240" cy="96012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67512" y="1329563"/>
              <a:ext cx="159105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前端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67512" y="1585722"/>
              <a:ext cx="1591056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React + Vite</a:t>
              </a:r>
              <a:br/>
              <a:r>
                <a:t>聊天、上传、角色选择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B1D8147-A9B5-5194-9F2A-4491B9F4FD5B}"/>
              </a:ext>
            </a:extLst>
          </p:cNvPr>
          <p:cNvGrpSpPr/>
          <p:nvPr/>
        </p:nvGrpSpPr>
        <p:grpSpPr>
          <a:xfrm>
            <a:off x="2697480" y="1234440"/>
            <a:ext cx="1920240" cy="960120"/>
            <a:chOff x="2697480" y="1234440"/>
            <a:chExt cx="1920240" cy="960120"/>
          </a:xfrm>
        </p:grpSpPr>
        <p:sp>
          <p:nvSpPr>
            <p:cNvPr id="8" name="Rounded Rectangle 7"/>
            <p:cNvSpPr/>
            <p:nvPr/>
          </p:nvSpPr>
          <p:spPr>
            <a:xfrm>
              <a:off x="2697480" y="1234440"/>
              <a:ext cx="1920240" cy="96012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62072" y="1316228"/>
              <a:ext cx="159105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接口层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862072" y="1600327"/>
              <a:ext cx="1591056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FastAPI</a:t>
              </a:r>
              <a:br/>
              <a:r>
                <a:t>鉴权、路由、SSE 流式输出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FBB9034-CEF8-B0BF-504C-703A01F74146}"/>
              </a:ext>
            </a:extLst>
          </p:cNvPr>
          <p:cNvGrpSpPr/>
          <p:nvPr/>
        </p:nvGrpSpPr>
        <p:grpSpPr>
          <a:xfrm>
            <a:off x="4892040" y="1234440"/>
            <a:ext cx="2057400" cy="960120"/>
            <a:chOff x="4892040" y="1234440"/>
            <a:chExt cx="2057400" cy="960120"/>
          </a:xfrm>
        </p:grpSpPr>
        <p:sp>
          <p:nvSpPr>
            <p:cNvPr id="11" name="Rounded Rectangle 10"/>
            <p:cNvSpPr/>
            <p:nvPr/>
          </p:nvSpPr>
          <p:spPr>
            <a:xfrm>
              <a:off x="4892040" y="1234440"/>
              <a:ext cx="2057400" cy="96012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056631" y="1344168"/>
              <a:ext cx="172821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 err="1"/>
                <a:t>业务编排</a:t>
              </a:r>
              <a:endParaRPr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56631" y="1673352"/>
              <a:ext cx="1728216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ChatService</a:t>
              </a:r>
              <a:br/>
              <a:r>
                <a:t>记忆 + 检索 + LLM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241FF00-20DF-A3C2-1C16-45AD92618403}"/>
              </a:ext>
            </a:extLst>
          </p:cNvPr>
          <p:cNvGrpSpPr/>
          <p:nvPr/>
        </p:nvGrpSpPr>
        <p:grpSpPr>
          <a:xfrm>
            <a:off x="7223760" y="1234440"/>
            <a:ext cx="2057400" cy="960120"/>
            <a:chOff x="7223760" y="1234440"/>
            <a:chExt cx="2057400" cy="960120"/>
          </a:xfrm>
        </p:grpSpPr>
        <p:sp>
          <p:nvSpPr>
            <p:cNvPr id="14" name="Rounded Rectangle 13"/>
            <p:cNvSpPr/>
            <p:nvPr/>
          </p:nvSpPr>
          <p:spPr>
            <a:xfrm>
              <a:off x="7223760" y="1234440"/>
              <a:ext cx="2057400" cy="96012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388352" y="1316228"/>
              <a:ext cx="172821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/>
                <a:t>RAG </a:t>
              </a:r>
              <a:r>
                <a:rPr dirty="0" err="1"/>
                <a:t>管道</a:t>
              </a:r>
              <a:endParaRPr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88352" y="1600327"/>
              <a:ext cx="1728216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PDFIngestService</a:t>
              </a:r>
              <a:br>
                <a:rPr dirty="0"/>
              </a:br>
              <a:r>
                <a:rPr dirty="0" err="1"/>
                <a:t>解析、入库、检索、精排</a:t>
              </a:r>
              <a:endParaRPr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080D51E-7971-D15A-747C-55D9A2BF59C0}"/>
              </a:ext>
            </a:extLst>
          </p:cNvPr>
          <p:cNvGrpSpPr/>
          <p:nvPr/>
        </p:nvGrpSpPr>
        <p:grpSpPr>
          <a:xfrm>
            <a:off x="9555480" y="1234440"/>
            <a:ext cx="2011680" cy="960120"/>
            <a:chOff x="9555480" y="1234440"/>
            <a:chExt cx="2011680" cy="960120"/>
          </a:xfrm>
        </p:grpSpPr>
        <p:sp>
          <p:nvSpPr>
            <p:cNvPr id="17" name="Rounded Rectangle 16"/>
            <p:cNvSpPr/>
            <p:nvPr/>
          </p:nvSpPr>
          <p:spPr>
            <a:xfrm>
              <a:off x="9555480" y="1234440"/>
              <a:ext cx="2011680" cy="96012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20072" y="1344168"/>
              <a:ext cx="168249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 err="1"/>
                <a:t>模型服务</a:t>
              </a:r>
              <a:endParaRPr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720072" y="1673352"/>
              <a:ext cx="1682496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LLM / Embedding</a:t>
              </a:r>
              <a:br>
                <a:rPr dirty="0"/>
              </a:br>
              <a:r>
                <a:rPr dirty="0"/>
                <a:t>Vision / </a:t>
              </a:r>
              <a:r>
                <a:rPr dirty="0" err="1"/>
                <a:t>Reranker</a:t>
              </a:r>
              <a:endParaRPr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85800" y="2788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t>基础设施：MySQL 存用户与会话｜Redis 存短期记忆｜Milvus 存向量｜Neo4j 存实体关系｜Docker Compose 统一部署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9316562-6F5B-C0A2-42CD-FC13D987E104}"/>
              </a:ext>
            </a:extLst>
          </p:cNvPr>
          <p:cNvGrpSpPr/>
          <p:nvPr/>
        </p:nvGrpSpPr>
        <p:grpSpPr>
          <a:xfrm>
            <a:off x="822960" y="3657600"/>
            <a:ext cx="5120640" cy="1828800"/>
            <a:chOff x="822960" y="3657600"/>
            <a:chExt cx="5120640" cy="1828800"/>
          </a:xfrm>
        </p:grpSpPr>
        <p:sp>
          <p:nvSpPr>
            <p:cNvPr id="21" name="TextBox 20"/>
            <p:cNvSpPr txBox="1"/>
            <p:nvPr/>
          </p:nvSpPr>
          <p:spPr>
            <a:xfrm>
              <a:off x="822960" y="3657600"/>
              <a:ext cx="512064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7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关键代码模块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22960" y="4069080"/>
              <a:ext cx="5120640" cy="1417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app/services/</a:t>
              </a:r>
              <a:r>
                <a:rPr dirty="0" err="1"/>
                <a:t>chat_service.py：对话主流程编排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app/services/</a:t>
              </a:r>
              <a:r>
                <a:rPr dirty="0" err="1"/>
                <a:t>pdf_ingest_service.py：PDF</a:t>
              </a:r>
              <a:r>
                <a:rPr dirty="0"/>
                <a:t> </a:t>
              </a:r>
              <a:r>
                <a:rPr dirty="0" err="1"/>
                <a:t>解析、入库、检索、重排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app/services/</a:t>
              </a:r>
              <a:r>
                <a:rPr dirty="0" err="1"/>
                <a:t>memory_service.py：Redis</a:t>
              </a:r>
              <a:r>
                <a:rPr dirty="0"/>
                <a:t> </a:t>
              </a:r>
              <a:r>
                <a:rPr dirty="0" err="1"/>
                <a:t>多轮记忆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app/services/</a:t>
              </a:r>
              <a:r>
                <a:rPr dirty="0" err="1"/>
                <a:t>llm_service.py：Prompt、Query</a:t>
              </a:r>
              <a:r>
                <a:rPr dirty="0"/>
                <a:t> </a:t>
              </a:r>
              <a:r>
                <a:rPr dirty="0" err="1"/>
                <a:t>Rewrite、生成回答</a:t>
              </a:r>
              <a:endParaRPr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A7AD446-F25A-6C23-2BDA-41BE042A00A6}"/>
              </a:ext>
            </a:extLst>
          </p:cNvPr>
          <p:cNvGrpSpPr/>
          <p:nvPr/>
        </p:nvGrpSpPr>
        <p:grpSpPr>
          <a:xfrm>
            <a:off x="6400800" y="3657600"/>
            <a:ext cx="4754880" cy="1828800"/>
            <a:chOff x="6400800" y="3657600"/>
            <a:chExt cx="4754880" cy="1828800"/>
          </a:xfrm>
        </p:grpSpPr>
        <p:sp>
          <p:nvSpPr>
            <p:cNvPr id="23" name="TextBox 22"/>
            <p:cNvSpPr txBox="1"/>
            <p:nvPr/>
          </p:nvSpPr>
          <p:spPr>
            <a:xfrm>
              <a:off x="6400800" y="3657600"/>
              <a:ext cx="47548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7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 err="1"/>
                <a:t>架构特点</a:t>
              </a:r>
              <a:endParaRPr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400800" y="4069080"/>
              <a:ext cx="4754880" cy="1417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分层清晰：API、Service、Repository、Model</a:t>
              </a:r>
              <a:r>
                <a:rPr dirty="0"/>
                <a:t> </a:t>
              </a:r>
              <a:r>
                <a:rPr dirty="0" err="1"/>
                <a:t>解耦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检索增强：不直接把问题交给大模型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故障降级：Redis</a:t>
              </a:r>
              <a:r>
                <a:rPr dirty="0"/>
                <a:t> / Milvus / Rerank </a:t>
              </a:r>
              <a:r>
                <a:rPr dirty="0" err="1"/>
                <a:t>异常时尽量不阻塞主流程</a:t>
              </a: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支持扩展：可替换</a:t>
              </a:r>
              <a:r>
                <a:rPr dirty="0"/>
                <a:t> </a:t>
              </a:r>
              <a:r>
                <a:rPr dirty="0" err="1"/>
                <a:t>Embedding、LLM、Rerank</a:t>
              </a:r>
              <a:r>
                <a:rPr dirty="0"/>
                <a:t> </a:t>
              </a:r>
              <a:r>
                <a:rPr dirty="0" err="1"/>
                <a:t>和向量库</a:t>
              </a:r>
              <a:endParaRPr dirty="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9966960" y="647395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lang="en-US" dirty="0"/>
              <a:t>05</a:t>
            </a:r>
            <a:endParaRPr dirty="0"/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t>核心流程一：知识入库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 err="1"/>
              <a:t>把复杂</a:t>
            </a:r>
            <a:r>
              <a:rPr dirty="0"/>
              <a:t> PDF </a:t>
            </a:r>
            <a:r>
              <a:rPr dirty="0" err="1"/>
              <a:t>转换为可检索、可溯源的结构化知识片段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132C616-5F09-FD00-F543-6577134698BA}"/>
              </a:ext>
            </a:extLst>
          </p:cNvPr>
          <p:cNvGrpSpPr/>
          <p:nvPr/>
        </p:nvGrpSpPr>
        <p:grpSpPr>
          <a:xfrm>
            <a:off x="502920" y="1325880"/>
            <a:ext cx="1645920" cy="841248"/>
            <a:chOff x="502920" y="1325880"/>
            <a:chExt cx="1645920" cy="841248"/>
          </a:xfrm>
        </p:grpSpPr>
        <p:sp>
          <p:nvSpPr>
            <p:cNvPr id="5" name="Rounded Rectangle 4"/>
            <p:cNvSpPr/>
            <p:nvPr>
              <p:custDataLst>
                <p:tags r:id="rId16"/>
              </p:custDataLst>
            </p:nvPr>
          </p:nvSpPr>
          <p:spPr>
            <a:xfrm>
              <a:off x="502920" y="1325880"/>
              <a:ext cx="1645920" cy="841248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>
              <p:custDataLst>
                <p:tags r:id="rId17"/>
              </p:custDataLst>
            </p:nvPr>
          </p:nvSpPr>
          <p:spPr>
            <a:xfrm>
              <a:off x="667512" y="1435607"/>
              <a:ext cx="131673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1</a:t>
              </a:r>
            </a:p>
          </p:txBody>
        </p:sp>
        <p:sp>
          <p:nvSpPr>
            <p:cNvPr id="7" name="TextBox 6"/>
            <p:cNvSpPr txBox="1"/>
            <p:nvPr>
              <p:custDataLst>
                <p:tags r:id="rId18"/>
              </p:custDataLst>
            </p:nvPr>
          </p:nvSpPr>
          <p:spPr>
            <a:xfrm>
              <a:off x="667512" y="1764792"/>
              <a:ext cx="1316736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PDF 上传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C747469-B74D-5B5C-E6B0-0C78F2E26142}"/>
              </a:ext>
            </a:extLst>
          </p:cNvPr>
          <p:cNvGrpSpPr/>
          <p:nvPr/>
        </p:nvGrpSpPr>
        <p:grpSpPr>
          <a:xfrm>
            <a:off x="2423160" y="1325880"/>
            <a:ext cx="1645920" cy="841248"/>
            <a:chOff x="2423160" y="1325880"/>
            <a:chExt cx="1645920" cy="841248"/>
          </a:xfrm>
        </p:grpSpPr>
        <p:sp>
          <p:nvSpPr>
            <p:cNvPr id="8" name="Rounded Rectangle 7"/>
            <p:cNvSpPr/>
            <p:nvPr>
              <p:custDataLst>
                <p:tags r:id="rId13"/>
              </p:custDataLst>
            </p:nvPr>
          </p:nvSpPr>
          <p:spPr>
            <a:xfrm>
              <a:off x="2423160" y="1325880"/>
              <a:ext cx="1645920" cy="841248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>
              <p:custDataLst>
                <p:tags r:id="rId14"/>
              </p:custDataLst>
            </p:nvPr>
          </p:nvSpPr>
          <p:spPr>
            <a:xfrm>
              <a:off x="2587752" y="1435607"/>
              <a:ext cx="131673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2</a:t>
              </a:r>
            </a:p>
          </p:txBody>
        </p:sp>
        <p:sp>
          <p:nvSpPr>
            <p:cNvPr id="10" name="TextBox 9"/>
            <p:cNvSpPr txBox="1"/>
            <p:nvPr>
              <p:custDataLst>
                <p:tags r:id="rId15"/>
              </p:custDataLst>
            </p:nvPr>
          </p:nvSpPr>
          <p:spPr>
            <a:xfrm>
              <a:off x="2587752" y="1764792"/>
              <a:ext cx="1316736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文本 / 表格 / 图片 / OCR 解析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1EC7DC4-28EF-DCA0-FB2F-0A330904441A}"/>
              </a:ext>
            </a:extLst>
          </p:cNvPr>
          <p:cNvGrpSpPr/>
          <p:nvPr/>
        </p:nvGrpSpPr>
        <p:grpSpPr>
          <a:xfrm>
            <a:off x="4343400" y="1325880"/>
            <a:ext cx="1645920" cy="841248"/>
            <a:chOff x="4343400" y="1325880"/>
            <a:chExt cx="1645920" cy="841248"/>
          </a:xfrm>
        </p:grpSpPr>
        <p:sp>
          <p:nvSpPr>
            <p:cNvPr id="11" name="Rounded Rectangle 10"/>
            <p:cNvSpPr/>
            <p:nvPr>
              <p:custDataLst>
                <p:tags r:id="rId10"/>
              </p:custDataLst>
            </p:nvPr>
          </p:nvSpPr>
          <p:spPr>
            <a:xfrm>
              <a:off x="4343400" y="1325880"/>
              <a:ext cx="1645920" cy="841248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>
              <p:custDataLst>
                <p:tags r:id="rId11"/>
              </p:custDataLst>
            </p:nvPr>
          </p:nvSpPr>
          <p:spPr>
            <a:xfrm>
              <a:off x="4507992" y="1435607"/>
              <a:ext cx="131673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3</a:t>
              </a:r>
            </a:p>
          </p:txBody>
        </p:sp>
        <p:sp>
          <p:nvSpPr>
            <p:cNvPr id="13" name="TextBox 12"/>
            <p:cNvSpPr txBox="1"/>
            <p:nvPr>
              <p:custDataLst>
                <p:tags r:id="rId12"/>
              </p:custDataLst>
            </p:nvPr>
          </p:nvSpPr>
          <p:spPr>
            <a:xfrm>
              <a:off x="4443730" y="1729105"/>
              <a:ext cx="1459230" cy="35242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Chunk </a:t>
              </a:r>
              <a:r>
                <a:rPr dirty="0" err="1"/>
                <a:t>切分</a:t>
              </a:r>
              <a:r>
                <a:rPr dirty="0"/>
                <a:t> + </a:t>
              </a:r>
              <a:r>
                <a:rPr lang="zh-CN" altLang="en-US" dirty="0"/>
                <a:t>重叠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2A44B6A-2D3C-5C9C-2D69-D10E232278C2}"/>
              </a:ext>
            </a:extLst>
          </p:cNvPr>
          <p:cNvGrpSpPr/>
          <p:nvPr/>
        </p:nvGrpSpPr>
        <p:grpSpPr>
          <a:xfrm>
            <a:off x="6263640" y="1325880"/>
            <a:ext cx="1645920" cy="841248"/>
            <a:chOff x="6263640" y="1325880"/>
            <a:chExt cx="1645920" cy="841248"/>
          </a:xfrm>
        </p:grpSpPr>
        <p:sp>
          <p:nvSpPr>
            <p:cNvPr id="14" name="Rounded Rectangle 13"/>
            <p:cNvSpPr/>
            <p:nvPr>
              <p:custDataLst>
                <p:tags r:id="rId7"/>
              </p:custDataLst>
            </p:nvPr>
          </p:nvSpPr>
          <p:spPr>
            <a:xfrm>
              <a:off x="6263640" y="1325880"/>
              <a:ext cx="1645920" cy="841248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>
              <p:custDataLst>
                <p:tags r:id="rId8"/>
              </p:custDataLst>
            </p:nvPr>
          </p:nvSpPr>
          <p:spPr>
            <a:xfrm>
              <a:off x="6428231" y="1435607"/>
              <a:ext cx="131673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4</a:t>
              </a:r>
            </a:p>
          </p:txBody>
        </p:sp>
        <p:sp>
          <p:nvSpPr>
            <p:cNvPr id="16" name="TextBox 15"/>
            <p:cNvSpPr txBox="1"/>
            <p:nvPr>
              <p:custDataLst>
                <p:tags r:id="rId9"/>
              </p:custDataLst>
            </p:nvPr>
          </p:nvSpPr>
          <p:spPr>
            <a:xfrm>
              <a:off x="6428231" y="1764792"/>
              <a:ext cx="1316736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Embedding </a:t>
              </a:r>
              <a:r>
                <a:rPr dirty="0" err="1"/>
                <a:t>向量化</a:t>
              </a:r>
              <a:endParaRPr dirty="0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FFD7F76-D156-CDE6-A111-8644E6A3D69A}"/>
              </a:ext>
            </a:extLst>
          </p:cNvPr>
          <p:cNvGrpSpPr/>
          <p:nvPr/>
        </p:nvGrpSpPr>
        <p:grpSpPr>
          <a:xfrm>
            <a:off x="8183879" y="1325880"/>
            <a:ext cx="1645920" cy="841248"/>
            <a:chOff x="8183879" y="1325880"/>
            <a:chExt cx="1645920" cy="841248"/>
          </a:xfrm>
        </p:grpSpPr>
        <p:sp>
          <p:nvSpPr>
            <p:cNvPr id="17" name="Rounded Rectangle 16"/>
            <p:cNvSpPr/>
            <p:nvPr>
              <p:custDataLst>
                <p:tags r:id="rId4"/>
              </p:custDataLst>
            </p:nvPr>
          </p:nvSpPr>
          <p:spPr>
            <a:xfrm>
              <a:off x="8183879" y="1325880"/>
              <a:ext cx="1645920" cy="841248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>
              <p:custDataLst>
                <p:tags r:id="rId5"/>
              </p:custDataLst>
            </p:nvPr>
          </p:nvSpPr>
          <p:spPr>
            <a:xfrm>
              <a:off x="8348471" y="1435607"/>
              <a:ext cx="131673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5</a:t>
              </a:r>
            </a:p>
          </p:txBody>
        </p:sp>
        <p:sp>
          <p:nvSpPr>
            <p:cNvPr id="19" name="TextBox 18"/>
            <p:cNvSpPr txBox="1"/>
            <p:nvPr>
              <p:custDataLst>
                <p:tags r:id="rId6"/>
              </p:custDataLst>
            </p:nvPr>
          </p:nvSpPr>
          <p:spPr>
            <a:xfrm>
              <a:off x="8348471" y="1764792"/>
              <a:ext cx="1316736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写入</a:t>
              </a:r>
              <a:r>
                <a:rPr dirty="0"/>
                <a:t> Milvus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E8FD489-E6E8-B254-C3CD-E486AC5829F6}"/>
              </a:ext>
            </a:extLst>
          </p:cNvPr>
          <p:cNvGrpSpPr/>
          <p:nvPr/>
        </p:nvGrpSpPr>
        <p:grpSpPr>
          <a:xfrm>
            <a:off x="10104119" y="1325880"/>
            <a:ext cx="1645920" cy="841248"/>
            <a:chOff x="10104119" y="1325880"/>
            <a:chExt cx="1645920" cy="841248"/>
          </a:xfrm>
        </p:grpSpPr>
        <p:sp>
          <p:nvSpPr>
            <p:cNvPr id="20" name="Rounded Rectangle 19"/>
            <p:cNvSpPr/>
            <p:nvPr>
              <p:custDataLst>
                <p:tags r:id="rId1"/>
              </p:custDataLst>
            </p:nvPr>
          </p:nvSpPr>
          <p:spPr>
            <a:xfrm>
              <a:off x="10104119" y="1325880"/>
              <a:ext cx="1645920" cy="841248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>
              <p:custDataLst>
                <p:tags r:id="rId2"/>
              </p:custDataLst>
            </p:nvPr>
          </p:nvSpPr>
          <p:spPr>
            <a:xfrm>
              <a:off x="10268711" y="1435607"/>
              <a:ext cx="131673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6</a:t>
              </a:r>
            </a:p>
          </p:txBody>
        </p:sp>
        <p:sp>
          <p:nvSpPr>
            <p:cNvPr id="22" name="TextBox 21"/>
            <p:cNvSpPr txBox="1"/>
            <p:nvPr>
              <p:custDataLst>
                <p:tags r:id="rId3"/>
              </p:custDataLst>
            </p:nvPr>
          </p:nvSpPr>
          <p:spPr>
            <a:xfrm>
              <a:off x="10268711" y="1764792"/>
              <a:ext cx="1316736" cy="310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构建图谱关系</a:t>
              </a:r>
              <a:endParaRPr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76C39FB-A72C-21CB-1ECF-719EA43E0D22}"/>
              </a:ext>
            </a:extLst>
          </p:cNvPr>
          <p:cNvGrpSpPr/>
          <p:nvPr/>
        </p:nvGrpSpPr>
        <p:grpSpPr>
          <a:xfrm>
            <a:off x="777240" y="2508885"/>
            <a:ext cx="5303520" cy="2453005"/>
            <a:chOff x="777240" y="2508885"/>
            <a:chExt cx="5303520" cy="2453005"/>
          </a:xfrm>
        </p:grpSpPr>
        <p:sp>
          <p:nvSpPr>
            <p:cNvPr id="23" name="TextBox 22"/>
            <p:cNvSpPr txBox="1"/>
            <p:nvPr/>
          </p:nvSpPr>
          <p:spPr>
            <a:xfrm>
              <a:off x="777240" y="2508885"/>
              <a:ext cx="53035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7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 err="1"/>
                <a:t>复杂</a:t>
              </a:r>
              <a:r>
                <a:rPr dirty="0"/>
                <a:t> PDF </a:t>
              </a:r>
              <a:r>
                <a:rPr dirty="0" err="1"/>
                <a:t>解析策略</a:t>
              </a:r>
              <a:endParaRPr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77240" y="2995930"/>
              <a:ext cx="5303520" cy="1965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文本层：PyMuPDF</a:t>
              </a:r>
              <a:r>
                <a:rPr dirty="0"/>
                <a:t> </a:t>
              </a:r>
              <a:r>
                <a:rPr dirty="0" err="1"/>
                <a:t>逐页提取正文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表格：find_tables</a:t>
              </a:r>
              <a:r>
                <a:rPr dirty="0"/>
                <a:t>() </a:t>
              </a:r>
              <a:r>
                <a:rPr dirty="0" err="1"/>
                <a:t>提取二维数组并转</a:t>
              </a:r>
              <a:r>
                <a:rPr dirty="0"/>
                <a:t> Markdown。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扫描页：RapidOCR</a:t>
              </a:r>
              <a:r>
                <a:rPr dirty="0"/>
                <a:t> </a:t>
              </a:r>
              <a:r>
                <a:rPr dirty="0" err="1"/>
                <a:t>识别图片文字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图表</a:t>
              </a:r>
              <a:r>
                <a:rPr dirty="0"/>
                <a:t>/</a:t>
              </a:r>
              <a:r>
                <a:rPr dirty="0" err="1"/>
                <a:t>图片：视觉模型生成中文描述后文本化入库</a:t>
              </a:r>
              <a:r>
                <a:rPr dirty="0"/>
                <a:t>。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2CACC96-7811-F827-01A8-FECF34B964EB}"/>
              </a:ext>
            </a:extLst>
          </p:cNvPr>
          <p:cNvGrpSpPr/>
          <p:nvPr/>
        </p:nvGrpSpPr>
        <p:grpSpPr>
          <a:xfrm>
            <a:off x="777240" y="4641850"/>
            <a:ext cx="4846320" cy="1475740"/>
            <a:chOff x="777240" y="4641850"/>
            <a:chExt cx="4846320" cy="1475740"/>
          </a:xfrm>
        </p:grpSpPr>
        <p:sp>
          <p:nvSpPr>
            <p:cNvPr id="25" name="TextBox 24"/>
            <p:cNvSpPr txBox="1"/>
            <p:nvPr/>
          </p:nvSpPr>
          <p:spPr>
            <a:xfrm>
              <a:off x="777240" y="4641850"/>
              <a:ext cx="48463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7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为什么这样设计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77240" y="5220970"/>
              <a:ext cx="4846320" cy="896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统一形态：文本、表格、图片最终都转成可检索文本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避免信息丢失：金融文档中的表格、股权图、流程图很关键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便于检索：Chunk</a:t>
              </a:r>
              <a:r>
                <a:rPr dirty="0"/>
                <a:t> </a:t>
              </a:r>
              <a:r>
                <a:rPr dirty="0" err="1"/>
                <a:t>粒度控制上下文长度</a:t>
              </a:r>
              <a:r>
                <a:rPr dirty="0"/>
                <a:t>，</a:t>
              </a:r>
              <a:r>
                <a:rPr lang="zh-CN" altLang="en-US" dirty="0"/>
                <a:t>重叠</a:t>
              </a:r>
              <a:r>
                <a:rPr dirty="0" err="1"/>
                <a:t>避免语义断裂</a:t>
              </a:r>
              <a:r>
                <a:rPr dirty="0"/>
                <a:t>。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966960" y="647395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/>
              <a:t>0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23560" y="2321560"/>
            <a:ext cx="5182870" cy="4174490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58750"/>
            <a:ext cx="111556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dirty="0" err="1"/>
              <a:t>核心流程二</a:t>
            </a:r>
            <a:r>
              <a:rPr dirty="0"/>
              <a:t>：</a:t>
            </a:r>
            <a:r>
              <a:rPr lang="zh-CN" altLang="en-US" dirty="0"/>
              <a:t>表格解析阶段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3626"/>
            <a:ext cx="10972800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表格解析的核心不是把单元格文字提出来，而是尽量保留行列关系。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6737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lang="en-US" dirty="0"/>
              <a:t>07</a:t>
            </a:r>
            <a:endParaRPr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r="-531" b="3719"/>
          <a:stretch>
            <a:fillRect/>
          </a:stretch>
        </p:blipFill>
        <p:spPr>
          <a:xfrm>
            <a:off x="885825" y="918845"/>
            <a:ext cx="9143365" cy="5803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lang="zh-CN" altLang="en-US" dirty="0"/>
              <a:t>核心流程三：多轮对话回答思路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如果上个问题是多实体，怎么判断下一个问题指的是哪个实体？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66960" y="6473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2EA0FC3-7386-4934-A8C9-D57F09C99F85}"/>
              </a:ext>
            </a:extLst>
          </p:cNvPr>
          <p:cNvSpPr txBox="1"/>
          <p:nvPr/>
        </p:nvSpPr>
        <p:spPr>
          <a:xfrm>
            <a:off x="582854" y="1132388"/>
            <a:ext cx="36258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</a:rPr>
              <a:t>多轮对话中，最难的是 指代消解。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881F6CAA-1F7C-E080-8632-D7D7F2521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54" y="1470942"/>
            <a:ext cx="3625808" cy="2816417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E27A9A95-A1A1-C298-447D-D7137F742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447" y="1301665"/>
            <a:ext cx="4817825" cy="448412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A88EF548-E6AA-CC11-2C73-DA0694834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680" y="1939939"/>
            <a:ext cx="3354315" cy="2816416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B6A2EE8C-A4F8-E90D-8348-698401C3E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1307" y="1939938"/>
            <a:ext cx="3277931" cy="2781275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86D7996E-D1F8-2BEF-401E-158C4FFADB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95" y="4997070"/>
            <a:ext cx="3302711" cy="779976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68D17562-138F-15EC-E70B-714FE7FB6E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308" y="4820647"/>
            <a:ext cx="1460744" cy="566411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3813A0CA-CEDE-4A79-512B-239E835A53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2308" y="5451350"/>
            <a:ext cx="3090579" cy="1271935"/>
          </a:xfrm>
          <a:prstGeom prst="rect">
            <a:avLst/>
          </a:prstGeom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6D70E7E3-4876-FD88-DADB-ABA9015EFA03}"/>
              </a:ext>
            </a:extLst>
          </p:cNvPr>
          <p:cNvSpPr txBox="1"/>
          <p:nvPr/>
        </p:nvSpPr>
        <p:spPr>
          <a:xfrm>
            <a:off x="7252720" y="4946217"/>
            <a:ext cx="430529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我们系统目前通过 </a:t>
            </a:r>
            <a:r>
              <a:rPr lang="en-US" altLang="zh-CN" sz="1400" dirty="0"/>
              <a:t>Redis </a:t>
            </a:r>
            <a:r>
              <a:rPr lang="zh-CN" altLang="en-US" sz="1400" dirty="0"/>
              <a:t>短期记忆保存最近多轮上下文，并在检索前使用大模型做 </a:t>
            </a:r>
            <a:r>
              <a:rPr lang="en-US" altLang="zh-CN" sz="1400" dirty="0"/>
              <a:t>query rewrite</a:t>
            </a:r>
            <a:r>
              <a:rPr lang="zh-CN" altLang="en-US" sz="1400" dirty="0"/>
              <a:t>，把用户的模糊问题改写成完整检索问题。如果上文只有一个明确实体，可以自动补全；如果上文存在多个候选实体，系统不应该强行判断，而是通过澄清问题把候选实体返回给用户选择，这样可以降低多实体指代错误带来的检索偏差。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6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dirty="0" err="1"/>
              <a:t>核心技术：Hybrid</a:t>
            </a:r>
            <a:r>
              <a:rPr dirty="0"/>
              <a:t> </a:t>
            </a:r>
            <a:r>
              <a:rPr dirty="0" err="1"/>
              <a:t>混合检索</a:t>
            </a:r>
            <a:r>
              <a:rPr dirty="0"/>
              <a:t> 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外部调用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dirty="0"/>
              <a:t>Rerank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先召回再精排，兼顾语义泛化、精确匹配和结构化关系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0AEBE7E-25F7-347F-C5D4-6B1ABCF7A0F2}"/>
              </a:ext>
            </a:extLst>
          </p:cNvPr>
          <p:cNvGrpSpPr/>
          <p:nvPr/>
        </p:nvGrpSpPr>
        <p:grpSpPr>
          <a:xfrm>
            <a:off x="685800" y="1234440"/>
            <a:ext cx="3246120" cy="1234440"/>
            <a:chOff x="685800" y="1234440"/>
            <a:chExt cx="3246120" cy="1234440"/>
          </a:xfrm>
        </p:grpSpPr>
        <p:sp>
          <p:nvSpPr>
            <p:cNvPr id="5" name="Rounded Rectangle 4"/>
            <p:cNvSpPr/>
            <p:nvPr/>
          </p:nvSpPr>
          <p:spPr>
            <a:xfrm>
              <a:off x="685800" y="1234440"/>
              <a:ext cx="3246120" cy="1234440"/>
            </a:xfrm>
            <a:prstGeom prst="roundRect">
              <a:avLst/>
            </a:prstGeom>
            <a:solidFill>
              <a:srgbClr val="FFFBEB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50392" y="1344168"/>
              <a:ext cx="291693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BM25 关键词检索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50392" y="1673352"/>
              <a:ext cx="2916936" cy="7040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适合公司名、人名、年份、金额、股权比例等精确信息。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4915B98-5EE0-8CA4-211C-03D0519F0D64}"/>
              </a:ext>
            </a:extLst>
          </p:cNvPr>
          <p:cNvGrpSpPr/>
          <p:nvPr/>
        </p:nvGrpSpPr>
        <p:grpSpPr>
          <a:xfrm>
            <a:off x="4480560" y="1234440"/>
            <a:ext cx="3246120" cy="1234440"/>
            <a:chOff x="4480560" y="1234440"/>
            <a:chExt cx="3246120" cy="1234440"/>
          </a:xfrm>
        </p:grpSpPr>
        <p:sp>
          <p:nvSpPr>
            <p:cNvPr id="8" name="Rounded Rectangle 7"/>
            <p:cNvSpPr/>
            <p:nvPr/>
          </p:nvSpPr>
          <p:spPr>
            <a:xfrm>
              <a:off x="4480560" y="1234440"/>
              <a:ext cx="3246120" cy="123444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45152" y="1344168"/>
              <a:ext cx="291693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Milvus 向量检索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45152" y="1673352"/>
              <a:ext cx="2916936" cy="7040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适合同义表达和自然语言问题，使用 COSINE 相似度。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CFF11C9-5AF1-0210-2D45-B054413D031A}"/>
              </a:ext>
            </a:extLst>
          </p:cNvPr>
          <p:cNvGrpSpPr/>
          <p:nvPr/>
        </p:nvGrpSpPr>
        <p:grpSpPr>
          <a:xfrm>
            <a:off x="8275320" y="1234440"/>
            <a:ext cx="2971800" cy="1234440"/>
            <a:chOff x="8275320" y="1234440"/>
            <a:chExt cx="2971800" cy="1234440"/>
          </a:xfrm>
        </p:grpSpPr>
        <p:sp>
          <p:nvSpPr>
            <p:cNvPr id="11" name="Rounded Rectangle 10"/>
            <p:cNvSpPr/>
            <p:nvPr/>
          </p:nvSpPr>
          <p:spPr>
            <a:xfrm>
              <a:off x="8275320" y="1234440"/>
              <a:ext cx="2971800" cy="1234440"/>
            </a:xfrm>
            <a:prstGeom prst="roundRect">
              <a:avLst/>
            </a:prstGeom>
            <a:solidFill>
              <a:srgbClr val="F5F3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39912" y="1344168"/>
              <a:ext cx="264261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Neo4j 图谱召回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439912" y="1673352"/>
              <a:ext cx="2642616" cy="7040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补充股权、关联方、实体关系等结构化知识。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914400" y="30632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rPr dirty="0" err="1"/>
              <a:t>融合候选池</a:t>
            </a:r>
            <a:r>
              <a:rPr dirty="0"/>
              <a:t> → bge-reranker-v2-m3 </a:t>
            </a:r>
            <a:r>
              <a:rPr dirty="0" err="1"/>
              <a:t>本地精排</a:t>
            </a:r>
            <a:r>
              <a:rPr dirty="0"/>
              <a:t> → Top-K </a:t>
            </a:r>
            <a:r>
              <a:rPr dirty="0" err="1"/>
              <a:t>上下文进入</a:t>
            </a:r>
            <a:r>
              <a:rPr dirty="0"/>
              <a:t> LLM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AD7BEC7-2A0F-7CCD-5EA9-24614D98004A}"/>
              </a:ext>
            </a:extLst>
          </p:cNvPr>
          <p:cNvGrpSpPr/>
          <p:nvPr/>
        </p:nvGrpSpPr>
        <p:grpSpPr>
          <a:xfrm>
            <a:off x="1005840" y="4023360"/>
            <a:ext cx="9966960" cy="1539994"/>
            <a:chOff x="1005840" y="4023360"/>
            <a:chExt cx="9966960" cy="1539994"/>
          </a:xfrm>
        </p:grpSpPr>
        <p:sp>
          <p:nvSpPr>
            <p:cNvPr id="15" name="TextBox 14"/>
            <p:cNvSpPr txBox="1"/>
            <p:nvPr/>
          </p:nvSpPr>
          <p:spPr>
            <a:xfrm>
              <a:off x="1005840" y="4023360"/>
              <a:ext cx="99669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7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创新点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05840" y="4434840"/>
              <a:ext cx="9966960" cy="1128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从单一向量检索升级为</a:t>
              </a:r>
              <a:r>
                <a:rPr dirty="0"/>
                <a:t> BM25 + </a:t>
              </a:r>
              <a:r>
                <a:rPr lang="zh-CN" dirty="0"/>
                <a:t>向量</a:t>
              </a:r>
              <a:r>
                <a:rPr dirty="0"/>
                <a:t> + </a:t>
              </a:r>
              <a:r>
                <a:rPr lang="en-US" dirty="0"/>
                <a:t>neo4j </a:t>
              </a:r>
              <a:r>
                <a:rPr dirty="0" err="1"/>
                <a:t>三路召回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对不同检索分数进行归一化和加权融合，扩大候选池后再精排</a:t>
              </a:r>
              <a:r>
                <a:rPr dirty="0"/>
                <a:t>。</a:t>
              </a:r>
              <a:endParaRPr lang="en-US" dirty="0"/>
            </a:p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bge-reranker-v2-m3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，走的是 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SiliconFlow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rerank API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，不是本地模型。</a:t>
              </a:r>
              <a:b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zh-CN" altLang="en-US" sz="1200" dirty="0">
                  <a:latin typeface="华文仿宋" panose="02010600040101010101" pitchFamily="2" charset="-122"/>
                  <a:ea typeface="华文仿宋" panose="02010600040101010101" pitchFamily="2" charset="-122"/>
                </a:rPr>
                <a:t>（优点：</a:t>
              </a:r>
              <a:r>
                <a:rPr lang="zh-CN" altLang="en-US" sz="1100" b="1" dirty="0">
                  <a:latin typeface="华文仿宋" panose="02010600040101010101" pitchFamily="2" charset="-122"/>
                  <a:ea typeface="华文仿宋" panose="02010600040101010101" pitchFamily="2" charset="-122"/>
                </a:rPr>
                <a:t>不用自己部署、不占本机显存内存、中文精排更准，演示稳定不卡壳。</a:t>
              </a:r>
              <a:r>
                <a:rPr lang="zh-CN" altLang="en-US" sz="1200" dirty="0">
                  <a:latin typeface="华文仿宋" panose="02010600040101010101" pitchFamily="2" charset="-122"/>
                  <a:ea typeface="华文仿宋" panose="02010600040101010101" pitchFamily="2" charset="-122"/>
                </a:rPr>
                <a:t>）</a:t>
              </a:r>
              <a:endParaRPr dirty="0"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9966960" y="647395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lang="en-US" dirty="0"/>
              <a:t>09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dirty="0"/>
              <a:t>项目创新点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 err="1"/>
              <a:t>不仅是调用大模型，而是围绕可信文档问答构建完整</a:t>
            </a:r>
            <a:r>
              <a:rPr dirty="0"/>
              <a:t> RAG </a:t>
            </a:r>
            <a:r>
              <a:rPr dirty="0" err="1"/>
              <a:t>工程体系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BF1B4F5-D39B-0E9B-2104-CC0186BBCB63}"/>
              </a:ext>
            </a:extLst>
          </p:cNvPr>
          <p:cNvGrpSpPr/>
          <p:nvPr/>
        </p:nvGrpSpPr>
        <p:grpSpPr>
          <a:xfrm>
            <a:off x="667512" y="1835244"/>
            <a:ext cx="3276000" cy="1260000"/>
            <a:chOff x="685800" y="1143000"/>
            <a:chExt cx="3246120" cy="1143000"/>
          </a:xfrm>
        </p:grpSpPr>
        <p:sp>
          <p:nvSpPr>
            <p:cNvPr id="5" name="Rounded Rectangle 4"/>
            <p:cNvSpPr/>
            <p:nvPr/>
          </p:nvSpPr>
          <p:spPr>
            <a:xfrm>
              <a:off x="685800" y="1143000"/>
              <a:ext cx="3246120" cy="114300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50392" y="1252728"/>
              <a:ext cx="291693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创新 1：多模态文档入库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50392" y="1581912"/>
              <a:ext cx="291693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lang="zh-CN" altLang="en-US" sz="1150" b="1" i="1" dirty="0"/>
                <a:t>统一多模态输入，把文字、表格、扫描件、图表四类信息都转成可被检索的文本片段。</a:t>
              </a:r>
              <a:endParaRPr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4DF9BB1-77F8-426E-5FAE-6130E5E455BE}"/>
              </a:ext>
            </a:extLst>
          </p:cNvPr>
          <p:cNvGrpSpPr/>
          <p:nvPr/>
        </p:nvGrpSpPr>
        <p:grpSpPr>
          <a:xfrm>
            <a:off x="4462272" y="1835244"/>
            <a:ext cx="3276000" cy="1260000"/>
            <a:chOff x="4480560" y="1143000"/>
            <a:chExt cx="3246120" cy="1143000"/>
          </a:xfrm>
        </p:grpSpPr>
        <p:sp>
          <p:nvSpPr>
            <p:cNvPr id="8" name="Rounded Rectangle 7"/>
            <p:cNvSpPr/>
            <p:nvPr/>
          </p:nvSpPr>
          <p:spPr>
            <a:xfrm>
              <a:off x="4480560" y="1143000"/>
              <a:ext cx="3246120" cy="114300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45152" y="1252728"/>
              <a:ext cx="291693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创新 2：多路融合检索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45152" y="1581912"/>
              <a:ext cx="291693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150" b="1" i="1">
                  <a:solidFill>
                    <a:srgbClr val="1F2937"/>
                  </a:solidFill>
                  <a:latin typeface="微软雅黑" panose="020B0503020204020204" charset="-122"/>
                </a:defRPr>
              </a:lvl1pPr>
            </a:lstStyle>
            <a:p>
              <a:r>
                <a:rPr dirty="0">
                  <a:latin typeface="宋体" panose="02010600030101010101" pitchFamily="2" charset="-122"/>
                  <a:ea typeface="宋体" panose="02010600030101010101" pitchFamily="2" charset="-122"/>
                </a:rPr>
                <a:t>BM25 + Vector + Neo4j，兼顾精确匹配、语义泛化和关系推理。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857C211-6E1D-3E0A-E3A7-3D6FA67E49DD}"/>
              </a:ext>
            </a:extLst>
          </p:cNvPr>
          <p:cNvGrpSpPr/>
          <p:nvPr/>
        </p:nvGrpSpPr>
        <p:grpSpPr>
          <a:xfrm>
            <a:off x="8257032" y="1794096"/>
            <a:ext cx="3276000" cy="1260000"/>
            <a:chOff x="8275320" y="1143000"/>
            <a:chExt cx="2971800" cy="1143000"/>
          </a:xfrm>
        </p:grpSpPr>
        <p:sp>
          <p:nvSpPr>
            <p:cNvPr id="11" name="Rounded Rectangle 10"/>
            <p:cNvSpPr/>
            <p:nvPr/>
          </p:nvSpPr>
          <p:spPr>
            <a:xfrm>
              <a:off x="8275320" y="1143000"/>
              <a:ext cx="2971800" cy="114300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39912" y="1252728"/>
              <a:ext cx="264261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创新 3：本地精排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439912" y="1581912"/>
              <a:ext cx="2642616" cy="6232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150" b="1" i="1">
                  <a:solidFill>
                    <a:srgbClr val="1F2937"/>
                  </a:solidFill>
                  <a:latin typeface="微软雅黑" panose="020B0503020204020204" charset="-122"/>
                </a:defRPr>
              </a:lvl1pPr>
            </a:lstStyle>
            <a:p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bge-reranker-v2-m3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，走的是 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SiliconFlow 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的 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rerank API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，不是本地模型。</a:t>
              </a:r>
              <a:endParaRPr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83ED9A0-6D97-1613-EFAF-4E7851E02E2A}"/>
              </a:ext>
            </a:extLst>
          </p:cNvPr>
          <p:cNvGrpSpPr/>
          <p:nvPr/>
        </p:nvGrpSpPr>
        <p:grpSpPr>
          <a:xfrm>
            <a:off x="667512" y="4298256"/>
            <a:ext cx="3276000" cy="1260000"/>
            <a:chOff x="685800" y="2926080"/>
            <a:chExt cx="3246120" cy="1143000"/>
          </a:xfrm>
        </p:grpSpPr>
        <p:sp>
          <p:nvSpPr>
            <p:cNvPr id="14" name="Rounded Rectangle 13"/>
            <p:cNvSpPr/>
            <p:nvPr/>
          </p:nvSpPr>
          <p:spPr>
            <a:xfrm>
              <a:off x="685800" y="2926080"/>
              <a:ext cx="3246120" cy="114300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CEDA5E51-C5FA-B021-C6AF-14B370E18EAD}"/>
                </a:ext>
              </a:extLst>
            </p:cNvPr>
            <p:cNvGrpSpPr/>
            <p:nvPr/>
          </p:nvGrpSpPr>
          <p:grpSpPr>
            <a:xfrm>
              <a:off x="850392" y="3035808"/>
              <a:ext cx="2916936" cy="775460"/>
              <a:chOff x="850392" y="3035808"/>
              <a:chExt cx="2916936" cy="775460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850392" y="3035808"/>
                <a:ext cx="2916936" cy="256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400" b="1">
                    <a:solidFill>
                      <a:srgbClr val="182D5C"/>
                    </a:solidFill>
                    <a:latin typeface="微软雅黑" panose="020B0503020204020204" charset="-122"/>
                  </a:defRPr>
                </a:pPr>
                <a:r>
                  <a:t>创新 4：角色记忆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850392" y="3364992"/>
                <a:ext cx="2916936" cy="612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150" b="1" i="1">
                    <a:solidFill>
                      <a:srgbClr val="1F2937"/>
                    </a:solidFill>
                    <a:latin typeface="微软雅黑" panose="020B0503020204020204" charset="-122"/>
                  </a:defRPr>
                </a:lvl1pPr>
              </a:lstStyle>
              <a:p>
                <a:r>
                  <a:rPr dirty="0">
                    <a:latin typeface="宋体" panose="02010600030101010101" pitchFamily="2" charset="-122"/>
                    <a:ea typeface="宋体" panose="02010600030101010101" pitchFamily="2" charset="-122"/>
                  </a:rPr>
                  <a:t>Redis </a:t>
                </a:r>
                <a:r>
                  <a:rPr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短期记忆</a:t>
                </a:r>
                <a:r>
                  <a:rPr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+ MySQL </a:t>
                </a:r>
                <a:r>
                  <a:rPr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持久历史，支持连续对话</a:t>
                </a:r>
                <a:r>
                  <a:rPr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。</a:t>
                </a:r>
              </a:p>
            </p:txBody>
          </p:sp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DED505B-D558-3672-53F1-BC1D25F41210}"/>
              </a:ext>
            </a:extLst>
          </p:cNvPr>
          <p:cNvGrpSpPr/>
          <p:nvPr/>
        </p:nvGrpSpPr>
        <p:grpSpPr>
          <a:xfrm>
            <a:off x="8257032" y="4298256"/>
            <a:ext cx="3276000" cy="1260000"/>
            <a:chOff x="4480560" y="2926080"/>
            <a:chExt cx="3246120" cy="1143000"/>
          </a:xfrm>
        </p:grpSpPr>
        <p:sp>
          <p:nvSpPr>
            <p:cNvPr id="17" name="Rounded Rectangle 16"/>
            <p:cNvSpPr/>
            <p:nvPr/>
          </p:nvSpPr>
          <p:spPr>
            <a:xfrm>
              <a:off x="4480560" y="2926080"/>
              <a:ext cx="3246120" cy="114300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645152" y="3035808"/>
              <a:ext cx="291693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 err="1"/>
                <a:t>创新</a:t>
              </a:r>
              <a:r>
                <a:rPr dirty="0"/>
                <a:t> </a:t>
              </a:r>
              <a:r>
                <a:rPr lang="en-US" dirty="0"/>
                <a:t>6</a:t>
              </a:r>
              <a:r>
                <a:rPr dirty="0"/>
                <a:t>：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实时时间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 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天气</a:t>
              </a:r>
            </a:p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endParaRPr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45152" y="3364992"/>
              <a:ext cx="2916936" cy="6232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150" b="1" i="1">
                  <a:solidFill>
                    <a:srgbClr val="1F2937"/>
                  </a:solidFill>
                  <a:latin typeface="微软雅黑" panose="020B0503020204020204" charset="-122"/>
                </a:defRPr>
              </a:lvl1pPr>
            </a:lstStyle>
            <a:p>
              <a:r>
                <a:rPr lang="zh-CN" altLang="en-US" dirty="0"/>
                <a:t>角色对话融入实时上下文，让 </a:t>
              </a:r>
              <a:r>
                <a:rPr lang="en-US" altLang="zh-CN" dirty="0"/>
                <a:t>AI </a:t>
              </a:r>
              <a:r>
                <a:rPr lang="zh-CN" altLang="en-US" dirty="0"/>
                <a:t>回答具备时间、地点、环境感知，不再是无状态问答。</a:t>
              </a:r>
              <a:endParaRPr b="0" dirty="0">
                <a:latin typeface="+mj-ea"/>
                <a:ea typeface="+mj-ea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BEEB44A-99B5-F3D8-01C5-AA429CF791F6}"/>
              </a:ext>
            </a:extLst>
          </p:cNvPr>
          <p:cNvGrpSpPr/>
          <p:nvPr/>
        </p:nvGrpSpPr>
        <p:grpSpPr>
          <a:xfrm>
            <a:off x="4462272" y="4298256"/>
            <a:ext cx="3276000" cy="1260000"/>
            <a:chOff x="8275320" y="2926080"/>
            <a:chExt cx="2971800" cy="1143000"/>
          </a:xfrm>
        </p:grpSpPr>
        <p:sp>
          <p:nvSpPr>
            <p:cNvPr id="20" name="Rounded Rectangle 19"/>
            <p:cNvSpPr/>
            <p:nvPr/>
          </p:nvSpPr>
          <p:spPr>
            <a:xfrm>
              <a:off x="8275320" y="2926080"/>
              <a:ext cx="2971800" cy="114300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439912" y="3035808"/>
              <a:ext cx="26426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 err="1"/>
                <a:t>创新</a:t>
              </a:r>
              <a:r>
                <a:rPr dirty="0"/>
                <a:t> </a:t>
              </a:r>
              <a:r>
                <a:rPr lang="en-US" dirty="0"/>
                <a:t>5</a:t>
              </a:r>
              <a:r>
                <a:rPr dirty="0"/>
                <a:t>：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多角色知识隔离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439912" y="3364992"/>
              <a:ext cx="264261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150" b="1" i="1">
                  <a:solidFill>
                    <a:srgbClr val="1F2937"/>
                  </a:solidFill>
                  <a:latin typeface="微软雅黑" panose="020B0503020204020204" charset="-122"/>
                </a:defRPr>
              </a:lvl1pPr>
            </a:lstStyle>
            <a:p>
              <a:r>
                <a:rPr lang="zh-CN" altLang="en-US" dirty="0"/>
                <a:t>角色级知识隔离：不同角色拥有独立向量库与图谱，避免知识串扰。</a:t>
              </a:r>
              <a:endParaRPr b="0" dirty="0">
                <a:latin typeface="+mj-ea"/>
                <a:ea typeface="+mj-ea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9966960" y="647395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/>
              <a:t>1</a:t>
            </a:r>
            <a:r>
              <a:rPr lang="en-US" dirty="0"/>
              <a:t>0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dirty="0"/>
              <a:t>关键技术难点与解决方案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围绕金融文档问答的真实问题进行针对性设计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6A4D15E-5104-1769-53E2-8573B73A461E}"/>
              </a:ext>
            </a:extLst>
          </p:cNvPr>
          <p:cNvGrpSpPr/>
          <p:nvPr/>
        </p:nvGrpSpPr>
        <p:grpSpPr>
          <a:xfrm>
            <a:off x="8536674" y="1478390"/>
            <a:ext cx="3246120" cy="2268000"/>
            <a:chOff x="8229600" y="1143000"/>
            <a:chExt cx="3246120" cy="1234440"/>
          </a:xfrm>
        </p:grpSpPr>
        <p:sp>
          <p:nvSpPr>
            <p:cNvPr id="11" name="Rounded Rectangle 10"/>
            <p:cNvSpPr/>
            <p:nvPr/>
          </p:nvSpPr>
          <p:spPr>
            <a:xfrm>
              <a:off x="8229600" y="1143000"/>
              <a:ext cx="3246120" cy="1234440"/>
            </a:xfrm>
            <a:prstGeom prst="roundRect">
              <a:avLst/>
            </a:prstGeom>
            <a:solidFill>
              <a:srgbClr val="F5F3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394192" y="1252728"/>
              <a:ext cx="2916936" cy="1675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 err="1"/>
                <a:t>难点</a:t>
              </a:r>
              <a:r>
                <a:rPr dirty="0"/>
                <a:t> 3：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扫描页提取不到文字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394192" y="1581912"/>
              <a:ext cx="2916936" cy="4187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100" b="1" dirty="0"/>
                <a:t>难点</a:t>
              </a:r>
              <a:r>
                <a:rPr lang="zh-CN" altLang="en-US" sz="1100" dirty="0"/>
                <a:t>：有些 </a:t>
              </a:r>
              <a:r>
                <a:rPr lang="en-US" altLang="zh-CN" sz="1100" dirty="0"/>
                <a:t>PDF </a:t>
              </a:r>
              <a:r>
                <a:rPr lang="zh-CN" altLang="en-US" sz="1100" dirty="0"/>
                <a:t>页是图片，</a:t>
              </a:r>
              <a:r>
                <a:rPr lang="en-US" altLang="zh-CN" sz="1100" dirty="0" err="1"/>
                <a:t>get_text</a:t>
              </a:r>
              <a:r>
                <a:rPr lang="en-US" altLang="zh-CN" sz="1100" dirty="0"/>
                <a:t>()</a:t>
              </a:r>
              <a:r>
                <a:rPr lang="zh-CN" altLang="en-US" sz="1100" dirty="0"/>
                <a:t> 返回空。</a:t>
              </a:r>
              <a:br>
                <a:rPr lang="en-US" altLang="zh-CN" sz="1100" dirty="0"/>
              </a:br>
              <a:endParaRPr lang="zh-CN" altLang="en-US" sz="1100" dirty="0"/>
            </a:p>
            <a:p>
              <a:r>
                <a:rPr lang="zh-CN" altLang="en-US" sz="1100" b="1" dirty="0"/>
                <a:t>解决</a:t>
              </a:r>
              <a:r>
                <a:rPr lang="zh-CN" altLang="en-US" sz="1100" dirty="0"/>
                <a:t>：当页面文字 </a:t>
              </a:r>
              <a:r>
                <a:rPr lang="en-US" altLang="zh-CN" sz="1100" dirty="0"/>
                <a:t>&lt; 30 </a:t>
              </a:r>
              <a:r>
                <a:rPr lang="zh-CN" altLang="en-US" sz="1100" dirty="0"/>
                <a:t>字符时，自动用 </a:t>
              </a:r>
              <a:r>
                <a:rPr lang="en-US" altLang="zh-CN" sz="1100" dirty="0" err="1"/>
                <a:t>RapidOCR</a:t>
              </a:r>
              <a:r>
                <a:rPr lang="zh-CN" altLang="en-US" sz="1100" dirty="0"/>
                <a:t> 把页面渲染成图片再识别。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5CA7B0B-262C-B9C4-1822-585CF7F03CC9}"/>
              </a:ext>
            </a:extLst>
          </p:cNvPr>
          <p:cNvGrpSpPr/>
          <p:nvPr/>
        </p:nvGrpSpPr>
        <p:grpSpPr>
          <a:xfrm>
            <a:off x="475484" y="3960443"/>
            <a:ext cx="3474720" cy="2268000"/>
            <a:chOff x="640080" y="3063240"/>
            <a:chExt cx="3474720" cy="1234440"/>
          </a:xfrm>
        </p:grpSpPr>
        <p:sp>
          <p:nvSpPr>
            <p:cNvPr id="14" name="Rounded Rectangle 13"/>
            <p:cNvSpPr/>
            <p:nvPr/>
          </p:nvSpPr>
          <p:spPr>
            <a:xfrm>
              <a:off x="640080" y="3063240"/>
              <a:ext cx="3474720" cy="123444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4671" y="3172968"/>
              <a:ext cx="314553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难点 4：多轮指代消解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4671" y="3502152"/>
              <a:ext cx="3145536" cy="5109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100" dirty="0"/>
                <a:t>用户会问“它的净利润呢？” 此类问题缺主语，直接检索会跑偏。</a:t>
              </a:r>
              <a:br>
                <a:rPr lang="en-US" altLang="zh-CN" sz="1100" dirty="0"/>
              </a:br>
              <a:endParaRPr lang="zh-CN" altLang="en-US" sz="1100" dirty="0"/>
            </a:p>
            <a:p>
              <a:r>
                <a:rPr lang="zh-CN" altLang="en-US" sz="1100" b="1" dirty="0"/>
                <a:t>解决</a:t>
              </a:r>
              <a:r>
                <a:rPr lang="zh-CN" altLang="en-US" sz="1100" dirty="0"/>
                <a:t>：结合 </a:t>
              </a:r>
              <a:r>
                <a:rPr lang="en-US" altLang="zh-CN" sz="1100" dirty="0"/>
                <a:t>Redis </a:t>
              </a:r>
              <a:r>
                <a:rPr lang="zh-CN" altLang="en-US" sz="1100" dirty="0"/>
                <a:t>短期记忆 </a:t>
              </a:r>
              <a:r>
                <a:rPr lang="en-US" altLang="zh-CN" sz="1100" dirty="0"/>
                <a:t>+ Query Rewrite</a:t>
              </a:r>
              <a:r>
                <a:rPr lang="zh-CN" altLang="en-US" sz="1100" dirty="0"/>
                <a:t>（查询重写），把代词补全成完整问题再检索。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6D19234-CF1E-8A4D-2CC1-B5022DE48430}"/>
              </a:ext>
            </a:extLst>
          </p:cNvPr>
          <p:cNvGrpSpPr/>
          <p:nvPr/>
        </p:nvGrpSpPr>
        <p:grpSpPr>
          <a:xfrm>
            <a:off x="4506079" y="3960439"/>
            <a:ext cx="3474720" cy="2267999"/>
            <a:chOff x="4434840" y="3063240"/>
            <a:chExt cx="3474720" cy="1234440"/>
          </a:xfrm>
        </p:grpSpPr>
        <p:sp>
          <p:nvSpPr>
            <p:cNvPr id="17" name="Rounded Rectangle 16"/>
            <p:cNvSpPr/>
            <p:nvPr/>
          </p:nvSpPr>
          <p:spPr>
            <a:xfrm>
              <a:off x="4434840" y="3063240"/>
              <a:ext cx="3474720" cy="123444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599431" y="3172968"/>
              <a:ext cx="314553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难点 5：候选排序质量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599431" y="3502152"/>
              <a:ext cx="3145536" cy="5109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100" dirty="0"/>
                <a:t>多路召回后，候选片段相关性参差不齐： 有的语义近但答非所问，有的关键词命中但上下文无关。</a:t>
              </a:r>
            </a:p>
            <a:p>
              <a:r>
                <a:rPr lang="zh-CN" altLang="en-US" sz="1100" b="1" dirty="0"/>
                <a:t>解决</a:t>
              </a:r>
              <a:r>
                <a:rPr lang="zh-CN" altLang="en-US" sz="1100" dirty="0"/>
                <a:t>：调用 </a:t>
              </a:r>
              <a:r>
                <a:rPr lang="en-US" altLang="zh-CN" sz="1100" dirty="0"/>
                <a:t>BAAI/bge-reranker-v2-m3</a:t>
              </a:r>
              <a:r>
                <a:rPr lang="zh-CN" altLang="en-US" sz="1100" dirty="0"/>
                <a:t> 做 </a:t>
              </a:r>
              <a:r>
                <a:rPr lang="en-US" altLang="zh-CN" sz="1100" dirty="0"/>
                <a:t>Cross-Encoder </a:t>
              </a:r>
              <a:r>
                <a:rPr lang="zh-CN" altLang="en-US" sz="1100" dirty="0"/>
                <a:t>精排，按真实相关性筛 </a:t>
              </a:r>
              <a:r>
                <a:rPr lang="en-US" altLang="zh-CN" sz="1100" dirty="0"/>
                <a:t>Top-K</a:t>
              </a:r>
              <a:r>
                <a:rPr lang="zh-CN" altLang="en-US" sz="1100" dirty="0"/>
                <a:t>。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92DAB58-FFF4-6D4E-1952-54010402B725}"/>
              </a:ext>
            </a:extLst>
          </p:cNvPr>
          <p:cNvGrpSpPr/>
          <p:nvPr/>
        </p:nvGrpSpPr>
        <p:grpSpPr>
          <a:xfrm>
            <a:off x="8536674" y="3960438"/>
            <a:ext cx="3246120" cy="2267999"/>
            <a:chOff x="8229600" y="3063240"/>
            <a:chExt cx="3246120" cy="1234440"/>
          </a:xfrm>
        </p:grpSpPr>
        <p:sp>
          <p:nvSpPr>
            <p:cNvPr id="20" name="Rounded Rectangle 19"/>
            <p:cNvSpPr/>
            <p:nvPr/>
          </p:nvSpPr>
          <p:spPr>
            <a:xfrm>
              <a:off x="8229600" y="3063240"/>
              <a:ext cx="3246120" cy="123444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394192" y="3172968"/>
              <a:ext cx="2916936" cy="1675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 err="1"/>
                <a:t>难点</a:t>
              </a:r>
              <a:r>
                <a:rPr dirty="0"/>
                <a:t> 6：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长对话上下文膨胀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394192" y="3502152"/>
              <a:ext cx="2916936" cy="5109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100" dirty="0"/>
                <a:t>随着对话轮数增加： 全量历史塞进 </a:t>
              </a:r>
              <a:r>
                <a:rPr lang="en-US" altLang="zh-CN" sz="1100" dirty="0"/>
                <a:t>prompt </a:t>
              </a:r>
              <a:r>
                <a:rPr lang="zh-CN" altLang="en-US" sz="1100" dirty="0"/>
                <a:t>会爆 </a:t>
              </a:r>
              <a:r>
                <a:rPr lang="en-US" altLang="zh-CN" sz="1100" dirty="0"/>
                <a:t>token</a:t>
              </a:r>
              <a:r>
                <a:rPr lang="zh-CN" altLang="en-US" sz="1100" dirty="0"/>
                <a:t>，越问越慢； 全部截断又会丢上下文，多轮指代失败。</a:t>
              </a:r>
            </a:p>
            <a:p>
              <a:r>
                <a:rPr lang="zh-CN" altLang="en-US" sz="1100" b="1" dirty="0"/>
                <a:t>解决</a:t>
              </a:r>
              <a:r>
                <a:rPr lang="zh-CN" altLang="en-US" sz="1100" dirty="0"/>
                <a:t>：短期记忆只保留最近 </a:t>
              </a:r>
              <a:r>
                <a:rPr lang="en-US" altLang="zh-CN" sz="1100" dirty="0"/>
                <a:t>20 </a:t>
              </a:r>
              <a:r>
                <a:rPr lang="zh-CN" altLang="en-US" sz="1100" dirty="0"/>
                <a:t>轮，累积超过阈值自动总结一次，用摘要替代旧轮次。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9966960" y="647395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lang="en-US" dirty="0"/>
              <a:t>11</a:t>
            </a:r>
            <a:endParaRPr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1F8AE30-7259-9ACA-5D16-16E29B5E5C87}"/>
              </a:ext>
            </a:extLst>
          </p:cNvPr>
          <p:cNvGrpSpPr/>
          <p:nvPr/>
        </p:nvGrpSpPr>
        <p:grpSpPr>
          <a:xfrm>
            <a:off x="475487" y="1497838"/>
            <a:ext cx="3474720" cy="2267999"/>
            <a:chOff x="475487" y="1497838"/>
            <a:chExt cx="3474720" cy="2267999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DAD62A14-AD9C-B3D3-1B9B-C43378872104}"/>
                </a:ext>
              </a:extLst>
            </p:cNvPr>
            <p:cNvGrpSpPr/>
            <p:nvPr/>
          </p:nvGrpSpPr>
          <p:grpSpPr>
            <a:xfrm>
              <a:off x="475487" y="1497838"/>
              <a:ext cx="3474720" cy="2267999"/>
              <a:chOff x="640080" y="1143000"/>
              <a:chExt cx="3474720" cy="1234440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640080" y="1143000"/>
                <a:ext cx="3474720" cy="1234440"/>
              </a:xfrm>
              <a:prstGeom prst="roundRect">
                <a:avLst/>
              </a:prstGeom>
              <a:solidFill>
                <a:srgbClr val="EFF6FF"/>
              </a:solidFill>
              <a:ln>
                <a:solidFill>
                  <a:srgbClr val="DBEAF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804671" y="1252728"/>
                <a:ext cx="3145536" cy="256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400" b="1">
                    <a:solidFill>
                      <a:srgbClr val="182D5C"/>
                    </a:solidFill>
                    <a:latin typeface="微软雅黑" panose="020B0503020204020204" charset="-122"/>
                  </a:defRPr>
                </a:pPr>
                <a:r>
                  <a:t>难点 1：复杂 PDF 信息丢失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806577" y="1940108"/>
                <a:ext cx="3145536" cy="242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150" b="0">
                    <a:solidFill>
                      <a:srgbClr val="1F2937"/>
                    </a:solidFill>
                    <a:latin typeface="微软雅黑" panose="020B0503020204020204" charset="-122"/>
                  </a:defRPr>
                </a:pPr>
                <a:r>
                  <a:rPr dirty="0" err="1"/>
                  <a:t>解决：PyMuPDF</a:t>
                </a:r>
                <a:r>
                  <a:rPr dirty="0"/>
                  <a:t> + OCR + </a:t>
                </a:r>
                <a:r>
                  <a:rPr dirty="0" err="1"/>
                  <a:t>表格</a:t>
                </a:r>
                <a:r>
                  <a:rPr dirty="0"/>
                  <a:t> Markdown + </a:t>
                </a:r>
                <a:r>
                  <a:rPr dirty="0" err="1"/>
                  <a:t>图像描述</a:t>
                </a:r>
                <a:r>
                  <a:rPr lang="zh-CN" altLang="en-US" dirty="0"/>
                  <a:t>。</a:t>
                </a:r>
                <a:endParaRPr dirty="0"/>
              </a:p>
            </p:txBody>
          </p:sp>
        </p:grpSp>
        <p:sp>
          <p:nvSpPr>
            <p:cNvPr id="30" name="TextBox 6">
              <a:extLst>
                <a:ext uri="{FF2B5EF4-FFF2-40B4-BE49-F238E27FC236}">
                  <a16:creationId xmlns:a16="http://schemas.microsoft.com/office/drawing/2014/main" id="{24954045-F031-25B1-D869-67CD473C66C0}"/>
                </a:ext>
              </a:extLst>
            </p:cNvPr>
            <p:cNvSpPr txBox="1"/>
            <p:nvPr/>
          </p:nvSpPr>
          <p:spPr>
            <a:xfrm>
              <a:off x="640078" y="2020629"/>
              <a:ext cx="3145536" cy="900246"/>
            </a:xfrm>
            <a:prstGeom prst="rect">
              <a:avLst/>
            </a:prstGeom>
            <a:noFill/>
          </p:spPr>
          <p:txBody>
            <a:bodyPr wrap="square" numCol="2">
              <a:spAutoFit/>
            </a:bodyPr>
            <a:lstStyle/>
            <a:p>
              <a:r>
                <a:rPr lang="zh-CN" altLang="en-US" sz="1050" dirty="0"/>
                <a:t>招股说明书包含：</a:t>
              </a:r>
            </a:p>
            <a:p>
              <a:r>
                <a:rPr lang="zh-CN" altLang="en-US" sz="1050" dirty="0"/>
                <a:t>普通正文</a:t>
              </a:r>
            </a:p>
            <a:p>
              <a:r>
                <a:rPr lang="zh-CN" altLang="en-US" sz="1050" dirty="0"/>
                <a:t>财务表格</a:t>
              </a:r>
            </a:p>
            <a:p>
              <a:r>
                <a:rPr lang="zh-CN" altLang="en-US" sz="1050" dirty="0"/>
                <a:t>扫描图片页</a:t>
              </a:r>
            </a:p>
            <a:p>
              <a:r>
                <a:rPr lang="zh-CN" altLang="en-US" sz="1050" dirty="0"/>
                <a:t>股权结构图、流程图</a:t>
              </a:r>
              <a:br>
                <a:rPr lang="en-US" altLang="zh-CN" sz="1050" dirty="0"/>
              </a:br>
              <a:r>
                <a:rPr lang="zh-CN" altLang="en-US" sz="1050" dirty="0"/>
                <a:t>如果只用 </a:t>
              </a:r>
              <a:r>
                <a:rPr lang="en-US" altLang="zh-CN" sz="1050" dirty="0" err="1"/>
                <a:t>page.get_text</a:t>
              </a:r>
              <a:r>
                <a:rPr lang="en-US" altLang="zh-CN" sz="1050" dirty="0"/>
                <a:t>()</a:t>
              </a:r>
              <a:r>
                <a:rPr lang="zh-CN" altLang="en-US" sz="1050" dirty="0"/>
                <a:t>：</a:t>
              </a:r>
            </a:p>
            <a:p>
              <a:r>
                <a:rPr lang="zh-CN" altLang="en-US" sz="1050" dirty="0"/>
                <a:t>表格被打散成乱序文字</a:t>
              </a:r>
            </a:p>
            <a:p>
              <a:r>
                <a:rPr lang="zh-CN" altLang="en-US" sz="1050" dirty="0"/>
                <a:t>扫描页直接空白</a:t>
              </a:r>
            </a:p>
            <a:p>
              <a:r>
                <a:rPr lang="zh-CN" altLang="en-US" sz="1050" dirty="0"/>
                <a:t>图表完全丢失</a:t>
              </a:r>
            </a:p>
            <a:p>
              <a:endParaRPr lang="zh-CN" altLang="en-US" sz="1000" dirty="0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29A874A-4763-3963-5525-93877A8EE563}"/>
              </a:ext>
            </a:extLst>
          </p:cNvPr>
          <p:cNvGrpSpPr/>
          <p:nvPr/>
        </p:nvGrpSpPr>
        <p:grpSpPr>
          <a:xfrm>
            <a:off x="4506080" y="1497839"/>
            <a:ext cx="3474720" cy="2361802"/>
            <a:chOff x="4506080" y="1497839"/>
            <a:chExt cx="3474720" cy="2361802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D68EEDCD-95D2-046C-7DE8-8C091EF2D534}"/>
                </a:ext>
              </a:extLst>
            </p:cNvPr>
            <p:cNvGrpSpPr/>
            <p:nvPr/>
          </p:nvGrpSpPr>
          <p:grpSpPr>
            <a:xfrm>
              <a:off x="4506080" y="1497839"/>
              <a:ext cx="3474720" cy="2361802"/>
              <a:chOff x="4434840" y="1143000"/>
              <a:chExt cx="3474720" cy="1285495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4434840" y="1143000"/>
                <a:ext cx="3474720" cy="1234440"/>
              </a:xfrm>
              <a:prstGeom prst="roundRect">
                <a:avLst/>
              </a:prstGeom>
              <a:solidFill>
                <a:srgbClr val="FFFBEB"/>
              </a:solidFill>
              <a:ln>
                <a:solidFill>
                  <a:srgbClr val="DBEAF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4599431" y="1252728"/>
                <a:ext cx="3145536" cy="256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400" b="1">
                    <a:solidFill>
                      <a:srgbClr val="182D5C"/>
                    </a:solidFill>
                    <a:latin typeface="微软雅黑" panose="020B0503020204020204" charset="-122"/>
                  </a:defRPr>
                </a:pPr>
                <a:r>
                  <a:t>难点 2：精确事实检索不稳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597527" y="1896624"/>
                <a:ext cx="3145536" cy="5318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解决：</a:t>
                </a:r>
                <a:r>
                  <a:rPr lang="zh-CN" altLang="en-US" sz="1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三路结果带 </a:t>
                </a:r>
                <a:r>
                  <a:rPr lang="en-US" altLang="zh-CN" sz="1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method</a:t>
                </a:r>
                <a:r>
                  <a:rPr lang="zh-CN" altLang="en-US" sz="1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 标签</a:t>
                </a:r>
              </a:p>
              <a:p>
                <a:pPr lvl="1"/>
                <a:r>
                  <a:rPr lang="zh-CN" altLang="en-US" sz="1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各路按规则归一化分数</a:t>
                </a:r>
              </a:p>
              <a:p>
                <a:pPr lvl="1"/>
                <a:r>
                  <a:rPr lang="zh-CN" altLang="en-US" sz="1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融合权重：向量 </a:t>
                </a:r>
                <a:r>
                  <a:rPr lang="en-US" altLang="zh-CN" sz="1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0.6</a:t>
                </a:r>
                <a:r>
                  <a:rPr lang="zh-CN" altLang="en-US" sz="1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，关键词 </a:t>
                </a:r>
                <a:r>
                  <a:rPr lang="en-US" altLang="zh-CN" sz="1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0.4</a:t>
                </a:r>
              </a:p>
              <a:p>
                <a:pPr lvl="1"/>
                <a:r>
                  <a:rPr lang="en-US" altLang="zh-CN" sz="1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Neo4j </a:t>
                </a:r>
                <a:r>
                  <a:rPr lang="zh-CN" altLang="en-US" sz="11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单独保留为结构化候选</a:t>
                </a:r>
              </a:p>
              <a:p>
                <a:pPr>
                  <a:defRPr sz="1150" b="0">
                    <a:solidFill>
                      <a:srgbClr val="1F2937"/>
                    </a:solidFill>
                    <a:latin typeface="微软雅黑" panose="020B0503020204020204" charset="-122"/>
                  </a:defRPr>
                </a:pPr>
                <a:endParaRPr sz="11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" name="TextBox 6">
              <a:extLst>
                <a:ext uri="{FF2B5EF4-FFF2-40B4-BE49-F238E27FC236}">
                  <a16:creationId xmlns:a16="http://schemas.microsoft.com/office/drawing/2014/main" id="{827CB9F3-0428-16B7-607D-492EF105F099}"/>
                </a:ext>
              </a:extLst>
            </p:cNvPr>
            <p:cNvSpPr txBox="1"/>
            <p:nvPr/>
          </p:nvSpPr>
          <p:spPr>
            <a:xfrm>
              <a:off x="4668767" y="2020963"/>
              <a:ext cx="3145536" cy="823302"/>
            </a:xfrm>
            <a:prstGeom prst="rect">
              <a:avLst/>
            </a:prstGeom>
            <a:noFill/>
          </p:spPr>
          <p:txBody>
            <a:bodyPr wrap="square" numCol="2">
              <a:spAutoFit/>
            </a:bodyPr>
            <a:lstStyle/>
            <a:p>
              <a:r>
                <a:rPr lang="en-US" altLang="zh-CN" sz="950" dirty="0"/>
                <a:t>BM25 </a:t>
              </a:r>
              <a:r>
                <a:rPr lang="zh-CN" altLang="en-US" sz="950" dirty="0"/>
                <a:t>擅长精确词：年份、金额、人名、比例</a:t>
              </a:r>
            </a:p>
            <a:p>
              <a:r>
                <a:rPr lang="zh-CN" altLang="en-US" sz="950" dirty="0"/>
                <a:t>向量擅长语义近义</a:t>
              </a:r>
            </a:p>
            <a:p>
              <a:r>
                <a:rPr lang="en-US" altLang="zh-CN" sz="950" dirty="0"/>
                <a:t>Neo4j </a:t>
              </a:r>
              <a:r>
                <a:rPr lang="zh-CN" altLang="en-US" sz="950" dirty="0"/>
                <a:t>给的是结构化关系，但分数体系不同</a:t>
              </a:r>
            </a:p>
            <a:p>
              <a:r>
                <a:rPr lang="zh-CN" altLang="en-US" sz="950" dirty="0"/>
                <a:t>直接拼接会出现：</a:t>
              </a:r>
            </a:p>
            <a:p>
              <a:r>
                <a:rPr lang="zh-CN" altLang="en-US" sz="950" dirty="0"/>
                <a:t>关键词命中过强压住语义</a:t>
              </a:r>
            </a:p>
            <a:p>
              <a:r>
                <a:rPr lang="en-US" altLang="zh-CN" sz="950" dirty="0"/>
                <a:t>Neo4j </a:t>
              </a:r>
              <a:r>
                <a:rPr lang="zh-CN" altLang="en-US" sz="950" dirty="0"/>
                <a:t>固定分把向量结果挤掉</a:t>
              </a:r>
            </a:p>
            <a:p>
              <a:r>
                <a:rPr lang="zh-CN" altLang="en-US" sz="950" dirty="0"/>
                <a:t>重复片段被多次计分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t>测试评估与性能优化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/>
              <a:t>从准确性、相关性、稳定性和响应时间多个维度验证系统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BA3ADB2-7AB9-8866-6307-DD00E3083546}"/>
              </a:ext>
            </a:extLst>
          </p:cNvPr>
          <p:cNvGrpSpPr/>
          <p:nvPr/>
        </p:nvGrpSpPr>
        <p:grpSpPr>
          <a:xfrm>
            <a:off x="676929" y="1360170"/>
            <a:ext cx="5303520" cy="2011680"/>
            <a:chOff x="731520" y="1234440"/>
            <a:chExt cx="5303520" cy="2011680"/>
          </a:xfrm>
        </p:grpSpPr>
        <p:sp>
          <p:nvSpPr>
            <p:cNvPr id="5" name="TextBox 4"/>
            <p:cNvSpPr txBox="1"/>
            <p:nvPr/>
          </p:nvSpPr>
          <p:spPr>
            <a:xfrm>
              <a:off x="731520" y="1234440"/>
              <a:ext cx="53035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7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评估维度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31520" y="1645920"/>
              <a:ext cx="5303520" cy="1600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检索命中率：答案相关片段是否被召回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上下文相关性：返回片段是否真正回答问题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回答忠实性：回答是否基于上下文，避免幻觉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响应耗时：Embedding、Milvus、Rerank、LLM</a:t>
              </a:r>
              <a:r>
                <a:rPr dirty="0"/>
                <a:t> </a:t>
              </a:r>
              <a:r>
                <a:rPr dirty="0" err="1"/>
                <a:t>分阶段计时</a:t>
              </a:r>
              <a:r>
                <a:rPr dirty="0"/>
                <a:t>。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02EBE17-2779-E21B-29D6-4D411F1E30D1}"/>
              </a:ext>
            </a:extLst>
          </p:cNvPr>
          <p:cNvGrpSpPr/>
          <p:nvPr/>
        </p:nvGrpSpPr>
        <p:grpSpPr>
          <a:xfrm>
            <a:off x="6346209" y="1360170"/>
            <a:ext cx="4846320" cy="2011680"/>
            <a:chOff x="6400800" y="1234440"/>
            <a:chExt cx="4846320" cy="2011680"/>
          </a:xfrm>
        </p:grpSpPr>
        <p:sp>
          <p:nvSpPr>
            <p:cNvPr id="7" name="TextBox 6"/>
            <p:cNvSpPr txBox="1"/>
            <p:nvPr/>
          </p:nvSpPr>
          <p:spPr>
            <a:xfrm>
              <a:off x="6400800" y="1234440"/>
              <a:ext cx="48463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7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优化措施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0" y="1645920"/>
              <a:ext cx="4846320" cy="1600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BM25 </a:t>
              </a:r>
              <a:r>
                <a:rPr dirty="0" err="1"/>
                <a:t>文档缓存：避免每次查询重复拉取和分词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三路召回并发执行：BM25、Vector、Neo4j </a:t>
              </a:r>
              <a:r>
                <a:rPr dirty="0" err="1"/>
                <a:t>互不阻塞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候选池扩大后再精排：避免图谱或某一路结果过早挤掉有效片段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本地</a:t>
              </a:r>
              <a:r>
                <a:rPr dirty="0"/>
                <a:t> </a:t>
              </a:r>
              <a:r>
                <a:rPr dirty="0" err="1"/>
                <a:t>reranker：减少外部重排序</a:t>
              </a:r>
              <a:r>
                <a:rPr dirty="0"/>
                <a:t> API </a:t>
              </a:r>
              <a:r>
                <a:rPr dirty="0" err="1"/>
                <a:t>依赖</a:t>
              </a:r>
              <a:r>
                <a:rPr dirty="0"/>
                <a:t>。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13239" y="6135398"/>
            <a:ext cx="104241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rPr dirty="0" err="1"/>
              <a:t>结论</a:t>
            </a:r>
            <a:r>
              <a:rPr dirty="0"/>
              <a:t>：</a:t>
            </a:r>
            <a:r>
              <a:rPr lang="zh-CN" altLang="en-US" sz="1900" b="1" dirty="0"/>
              <a:t>系统在检索质量（精度、召回、相关性）上表现良好，已满足工单要求；性能是唯一短板，需要针对性优化才能全线达标。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/>
              <a:t>1</a:t>
            </a:r>
            <a:r>
              <a:rPr lang="en-US" dirty="0"/>
              <a:t>2</a:t>
            </a:r>
            <a:endParaRPr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B8D23B9-CE9E-80E9-C4DB-A53628846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851" y="3371850"/>
            <a:ext cx="7634216" cy="24318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dirty="0"/>
              <a:t>系统部署与工程化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/>
              <a:t>通过容器化和分层配置提升系统可运行、可维护、可扩展能力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72F8D27-6282-653E-5913-04D7E99E7C10}"/>
              </a:ext>
            </a:extLst>
          </p:cNvPr>
          <p:cNvGrpSpPr/>
          <p:nvPr/>
        </p:nvGrpSpPr>
        <p:grpSpPr>
          <a:xfrm>
            <a:off x="731520" y="1234440"/>
            <a:ext cx="3291840" cy="1143000"/>
            <a:chOff x="731520" y="1234440"/>
            <a:chExt cx="3291840" cy="1143000"/>
          </a:xfrm>
        </p:grpSpPr>
        <p:sp>
          <p:nvSpPr>
            <p:cNvPr id="5" name="Rounded Rectangle 4"/>
            <p:cNvSpPr/>
            <p:nvPr>
              <p:custDataLst>
                <p:tags r:id="rId7"/>
              </p:custDataLst>
            </p:nvPr>
          </p:nvSpPr>
          <p:spPr>
            <a:xfrm>
              <a:off x="731520" y="1234440"/>
              <a:ext cx="3291840" cy="1143000"/>
            </a:xfrm>
            <a:prstGeom prst="roundRect">
              <a:avLst/>
            </a:prstGeom>
            <a:solidFill>
              <a:srgbClr val="EFF6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>
              <p:custDataLst>
                <p:tags r:id="rId8"/>
              </p:custDataLst>
            </p:nvPr>
          </p:nvSpPr>
          <p:spPr>
            <a:xfrm>
              <a:off x="896112" y="1344168"/>
              <a:ext cx="296265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Docker Compose</a:t>
              </a:r>
            </a:p>
          </p:txBody>
        </p:sp>
        <p:sp>
          <p:nvSpPr>
            <p:cNvPr id="7" name="TextBox 6"/>
            <p:cNvSpPr txBox="1"/>
            <p:nvPr>
              <p:custDataLst>
                <p:tags r:id="rId9"/>
              </p:custDataLst>
            </p:nvPr>
          </p:nvSpPr>
          <p:spPr>
            <a:xfrm>
              <a:off x="896112" y="1673352"/>
              <a:ext cx="296265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统一启动</a:t>
              </a:r>
              <a:r>
                <a:rPr lang="en-US" dirty="0"/>
                <a:t> </a:t>
              </a:r>
              <a:r>
                <a:rPr dirty="0"/>
                <a:t> MySQL、Redis、Milvus、Neo4j。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EEDC6FF-5913-D89D-E137-6B4CA36319F0}"/>
              </a:ext>
            </a:extLst>
          </p:cNvPr>
          <p:cNvGrpSpPr/>
          <p:nvPr/>
        </p:nvGrpSpPr>
        <p:grpSpPr>
          <a:xfrm>
            <a:off x="4480560" y="1234440"/>
            <a:ext cx="3291840" cy="1143000"/>
            <a:chOff x="4480560" y="1234440"/>
            <a:chExt cx="3291840" cy="1143000"/>
          </a:xfrm>
        </p:grpSpPr>
        <p:sp>
          <p:nvSpPr>
            <p:cNvPr id="8" name="Rounded Rectangle 7"/>
            <p:cNvSpPr/>
            <p:nvPr>
              <p:custDataLst>
                <p:tags r:id="rId4"/>
              </p:custDataLst>
            </p:nvPr>
          </p:nvSpPr>
          <p:spPr>
            <a:xfrm>
              <a:off x="4480560" y="1234440"/>
              <a:ext cx="3291840" cy="114300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>
              <p:custDataLst>
                <p:tags r:id="rId5"/>
              </p:custDataLst>
            </p:nvPr>
          </p:nvSpPr>
          <p:spPr>
            <a:xfrm>
              <a:off x="4645152" y="1344168"/>
              <a:ext cx="296265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数据持久化</a:t>
              </a:r>
            </a:p>
          </p:txBody>
        </p:sp>
        <p:sp>
          <p:nvSpPr>
            <p:cNvPr id="10" name="TextBox 9"/>
            <p:cNvSpPr txBox="1"/>
            <p:nvPr>
              <p:custDataLst>
                <p:tags r:id="rId6"/>
              </p:custDataLst>
            </p:nvPr>
          </p:nvSpPr>
          <p:spPr>
            <a:xfrm>
              <a:off x="4645152" y="1673352"/>
              <a:ext cx="296265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MySQL / Redis / Milvus / Neo4j </a:t>
              </a:r>
              <a:r>
                <a:rPr dirty="0" err="1"/>
                <a:t>使用</a:t>
              </a:r>
              <a:r>
                <a:rPr dirty="0"/>
                <a:t> volume</a:t>
              </a:r>
              <a:r>
                <a:rPr lang="en-US" dirty="0"/>
                <a:t>(</a:t>
              </a:r>
              <a:r>
                <a:rPr lang="zh-CN" altLang="en-US" dirty="0"/>
                <a:t>数据卷</a:t>
              </a:r>
              <a:r>
                <a:rPr lang="en-US" dirty="0"/>
                <a:t>)</a:t>
              </a:r>
              <a:r>
                <a:rPr dirty="0"/>
                <a:t>，</a:t>
              </a:r>
              <a:r>
                <a:rPr dirty="0" err="1"/>
                <a:t>避免关机后数据丢失</a:t>
              </a:r>
              <a:r>
                <a:rPr dirty="0"/>
                <a:t>。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B155C58-99E8-278E-7DAE-B9D149AE48C1}"/>
              </a:ext>
            </a:extLst>
          </p:cNvPr>
          <p:cNvGrpSpPr/>
          <p:nvPr/>
        </p:nvGrpSpPr>
        <p:grpSpPr>
          <a:xfrm>
            <a:off x="8229600" y="1234440"/>
            <a:ext cx="3017520" cy="1143000"/>
            <a:chOff x="8229600" y="1234440"/>
            <a:chExt cx="3017520" cy="1143000"/>
          </a:xfrm>
        </p:grpSpPr>
        <p:sp>
          <p:nvSpPr>
            <p:cNvPr id="11" name="Rounded Rectangle 10"/>
            <p:cNvSpPr/>
            <p:nvPr>
              <p:custDataLst>
                <p:tags r:id="rId1"/>
              </p:custDataLst>
            </p:nvPr>
          </p:nvSpPr>
          <p:spPr>
            <a:xfrm>
              <a:off x="8229600" y="1234440"/>
              <a:ext cx="3017520" cy="1143000"/>
            </a:xfrm>
            <a:prstGeom prst="roundRect">
              <a:avLst/>
            </a:prstGeom>
            <a:solidFill>
              <a:srgbClr val="F5F3FF"/>
            </a:solidFill>
            <a:ln>
              <a:solidFill>
                <a:srgbClr val="DBEAF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>
              <p:custDataLst>
                <p:tags r:id="rId2"/>
              </p:custDataLst>
            </p:nvPr>
          </p:nvSpPr>
          <p:spPr>
            <a:xfrm>
              <a:off x="8394192" y="1344168"/>
              <a:ext cx="2688336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配置中心</a:t>
              </a:r>
            </a:p>
          </p:txBody>
        </p:sp>
        <p:sp>
          <p:nvSpPr>
            <p:cNvPr id="13" name="TextBox 12"/>
            <p:cNvSpPr txBox="1"/>
            <p:nvPr>
              <p:custDataLst>
                <p:tags r:id="rId3"/>
              </p:custDataLst>
            </p:nvPr>
          </p:nvSpPr>
          <p:spPr>
            <a:xfrm>
              <a:off x="8394192" y="1673352"/>
              <a:ext cx="2688336" cy="6126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50" b="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t>config.py + .env 管理地址、模型、检索参数、开关。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1A1D620-4BA2-A00A-1BCE-9E6DE8DF1DB9}"/>
              </a:ext>
            </a:extLst>
          </p:cNvPr>
          <p:cNvGrpSpPr/>
          <p:nvPr/>
        </p:nvGrpSpPr>
        <p:grpSpPr>
          <a:xfrm>
            <a:off x="405130" y="2750185"/>
            <a:ext cx="4611370" cy="2530475"/>
            <a:chOff x="405130" y="2750185"/>
            <a:chExt cx="4611370" cy="2530475"/>
          </a:xfrm>
        </p:grpSpPr>
        <p:sp>
          <p:nvSpPr>
            <p:cNvPr id="14" name="TextBox 13"/>
            <p:cNvSpPr txBox="1"/>
            <p:nvPr/>
          </p:nvSpPr>
          <p:spPr>
            <a:xfrm>
              <a:off x="530225" y="2750185"/>
              <a:ext cx="3499485" cy="3524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7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工程亮点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05130" y="3183890"/>
              <a:ext cx="4611370" cy="20967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角色知识库隔离</a:t>
              </a:r>
              <a:r>
                <a:rPr dirty="0"/>
                <a:t>：</a:t>
              </a:r>
              <a:br>
                <a:rPr dirty="0"/>
              </a:br>
              <a:r>
                <a:rPr dirty="0" err="1"/>
                <a:t>每个角色独立</a:t>
              </a:r>
              <a:r>
                <a:rPr dirty="0"/>
                <a:t> </a:t>
              </a:r>
              <a:r>
                <a:rPr dirty="0" err="1"/>
                <a:t>collection，避免知识污染</a:t>
              </a:r>
              <a:r>
                <a:rPr dirty="0"/>
                <a:t>。</a:t>
              </a:r>
              <a:br>
                <a:rPr dirty="0"/>
              </a:b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服务降级</a:t>
              </a:r>
              <a:r>
                <a:rPr dirty="0"/>
                <a:t>：</a:t>
              </a:r>
              <a:br>
                <a:rPr dirty="0"/>
              </a:br>
              <a:r>
                <a:rPr dirty="0" err="1"/>
                <a:t>检索、图谱、重排异常时尽量回退，不直接中断问答</a:t>
              </a:r>
              <a:r>
                <a:rPr dirty="0"/>
                <a:t>。</a:t>
              </a:r>
              <a:br>
                <a:rPr dirty="0"/>
              </a:br>
              <a:endParaRPr dirty="0"/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前端体验优化</a:t>
              </a:r>
              <a:r>
                <a:rPr dirty="0"/>
                <a:t>：</a:t>
              </a:r>
              <a:br>
                <a:rPr dirty="0"/>
              </a:br>
              <a:r>
                <a:rPr dirty="0"/>
                <a:t>SSE </a:t>
              </a:r>
              <a:r>
                <a:rPr dirty="0" err="1"/>
                <a:t>流式输出</a:t>
              </a:r>
              <a:r>
                <a:rPr dirty="0"/>
                <a:t> + </a:t>
              </a:r>
              <a:r>
                <a:rPr dirty="0" err="1"/>
                <a:t>等待提示，降低用户等待焦虑</a:t>
              </a:r>
              <a:r>
                <a:rPr dirty="0"/>
                <a:t>。</a:t>
              </a:r>
              <a:br>
                <a:rPr dirty="0"/>
              </a:br>
              <a:endParaRPr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9966960" y="647395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/>
              <a:t>1</a:t>
            </a:r>
            <a:r>
              <a:rPr lang="en-US" dirty="0"/>
              <a:t>3</a:t>
            </a:r>
            <a:endParaRPr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16500" y="2459990"/>
            <a:ext cx="6334760" cy="4143375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502920" y="979802"/>
            <a:ext cx="4996815" cy="45719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28600"/>
            <a:ext cx="111556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lang="zh-CN" altLang="en-US" dirty="0"/>
              <a:t>聊天请求处理全流程</a:t>
            </a:r>
          </a:p>
        </p:txBody>
      </p:sp>
      <p:sp>
        <p:nvSpPr>
          <p:cNvPr id="5" name="TextBox 2"/>
          <p:cNvSpPr txBox="1"/>
          <p:nvPr/>
        </p:nvSpPr>
        <p:spPr>
          <a:xfrm>
            <a:off x="530352" y="676656"/>
            <a:ext cx="10972800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lang="zh-CN" altLang="en-US"/>
              <a:t>用户发一条消息发生了什么？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r="40628"/>
          <a:stretch>
            <a:fillRect/>
          </a:stretch>
        </p:blipFill>
        <p:spPr>
          <a:xfrm>
            <a:off x="835660" y="1104265"/>
            <a:ext cx="4331335" cy="54800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0"/>
            <a:ext cx="5864225" cy="6858000"/>
          </a:xfrm>
          <a:prstGeom prst="rect">
            <a:avLst/>
          </a:prstGeom>
        </p:spPr>
      </p:pic>
      <p:sp>
        <p:nvSpPr>
          <p:cNvPr id="3" name="TextBox 24">
            <a:extLst>
              <a:ext uri="{FF2B5EF4-FFF2-40B4-BE49-F238E27FC236}">
                <a16:creationId xmlns:a16="http://schemas.microsoft.com/office/drawing/2014/main" id="{44CEAE03-7F4E-084B-6659-9E31C71A65AA}"/>
              </a:ext>
            </a:extLst>
          </p:cNvPr>
          <p:cNvSpPr txBox="1"/>
          <p:nvPr/>
        </p:nvSpPr>
        <p:spPr>
          <a:xfrm>
            <a:off x="10117086" y="647395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lang="en-US" dirty="0"/>
              <a:t>1</a:t>
            </a:r>
            <a:r>
              <a:rPr dirty="0"/>
              <a:t>4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dirty="0"/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/>
              <a:t>项目完成了从基础 RAG 到多路检索增强角色问答系统的完整实现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228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CC572B1-08B9-C55C-C2DA-9F8CF6B9E3ED}"/>
              </a:ext>
            </a:extLst>
          </p:cNvPr>
          <p:cNvGrpSpPr/>
          <p:nvPr/>
        </p:nvGrpSpPr>
        <p:grpSpPr>
          <a:xfrm>
            <a:off x="941013" y="1698464"/>
            <a:ext cx="5303520" cy="2194560"/>
            <a:chOff x="777240" y="1234440"/>
            <a:chExt cx="5303520" cy="2194560"/>
          </a:xfrm>
        </p:grpSpPr>
        <p:sp>
          <p:nvSpPr>
            <p:cNvPr id="5" name="TextBox 4"/>
            <p:cNvSpPr txBox="1"/>
            <p:nvPr/>
          </p:nvSpPr>
          <p:spPr>
            <a:xfrm>
              <a:off x="777240" y="1234440"/>
              <a:ext cx="53035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7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rPr dirty="0" err="1"/>
                <a:t>已完成能力</a:t>
              </a:r>
              <a:endParaRPr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1645920"/>
              <a:ext cx="5303520" cy="1783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PDF </a:t>
              </a:r>
              <a:r>
                <a:rPr dirty="0" err="1"/>
                <a:t>上传、解析、切分、向量化、Milvus</a:t>
              </a:r>
              <a:r>
                <a:rPr dirty="0"/>
                <a:t> </a:t>
              </a:r>
              <a:r>
                <a:rPr dirty="0" err="1"/>
                <a:t>入库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基于角色知识库的问答与流式输出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Redis </a:t>
              </a:r>
              <a:r>
                <a:rPr dirty="0" err="1"/>
                <a:t>多轮记忆与</a:t>
              </a:r>
              <a:r>
                <a:rPr dirty="0"/>
                <a:t> Query Rewrite。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/>
                <a:t>BM25 + </a:t>
              </a:r>
              <a:r>
                <a:rPr dirty="0" err="1"/>
                <a:t>向量</a:t>
              </a:r>
              <a:r>
                <a:rPr dirty="0"/>
                <a:t> + Neo4j </a:t>
              </a:r>
              <a:r>
                <a:rPr dirty="0" err="1"/>
                <a:t>混合检索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本地</a:t>
              </a:r>
              <a:r>
                <a:rPr dirty="0"/>
                <a:t> </a:t>
              </a:r>
              <a:r>
                <a:rPr dirty="0" err="1"/>
                <a:t>bge-reranker</a:t>
              </a:r>
              <a:r>
                <a:rPr dirty="0"/>
                <a:t> </a:t>
              </a:r>
              <a:r>
                <a:rPr dirty="0" err="1"/>
                <a:t>精排</a:t>
              </a:r>
              <a:r>
                <a:rPr dirty="0"/>
                <a:t>。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4C3EB81-3B52-3536-4672-F1C411252A07}"/>
              </a:ext>
            </a:extLst>
          </p:cNvPr>
          <p:cNvGrpSpPr/>
          <p:nvPr/>
        </p:nvGrpSpPr>
        <p:grpSpPr>
          <a:xfrm>
            <a:off x="6564573" y="1698464"/>
            <a:ext cx="4754880" cy="2194560"/>
            <a:chOff x="6400800" y="1234440"/>
            <a:chExt cx="4754880" cy="2194560"/>
          </a:xfrm>
        </p:grpSpPr>
        <p:sp>
          <p:nvSpPr>
            <p:cNvPr id="7" name="TextBox 6"/>
            <p:cNvSpPr txBox="1"/>
            <p:nvPr/>
          </p:nvSpPr>
          <p:spPr>
            <a:xfrm>
              <a:off x="6400800" y="1234440"/>
              <a:ext cx="47548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700" b="1">
                  <a:solidFill>
                    <a:srgbClr val="182D5C"/>
                  </a:solidFill>
                  <a:latin typeface="微软雅黑" panose="020B0503020204020204" charset="-122"/>
                </a:defRPr>
              </a:pPr>
              <a:r>
                <a:t>后续优化方向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0" y="1645920"/>
              <a:ext cx="4754880" cy="1783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进一步完善跨页表格识别与结构化表格入库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引入异步任务队列优化图片解析耗时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构建更系统的</a:t>
              </a:r>
              <a:r>
                <a:rPr dirty="0"/>
                <a:t> RAGAS </a:t>
              </a:r>
              <a:r>
                <a:rPr dirty="0" err="1"/>
                <a:t>评估集</a:t>
              </a:r>
              <a:r>
                <a:rPr dirty="0"/>
                <a:t>。</a:t>
              </a:r>
            </a:p>
            <a:p>
              <a:pPr>
                <a:spcAft>
                  <a:spcPts val="800"/>
                </a:spcAft>
                <a:defRPr sz="1300">
                  <a:solidFill>
                    <a:srgbClr val="1F2937"/>
                  </a:solidFill>
                  <a:latin typeface="微软雅黑" panose="020B0503020204020204" charset="-122"/>
                </a:defRPr>
              </a:pPr>
              <a:r>
                <a:rPr dirty="0" err="1"/>
                <a:t>深化</a:t>
              </a:r>
              <a:r>
                <a:rPr dirty="0"/>
                <a:t> </a:t>
              </a:r>
              <a:r>
                <a:rPr dirty="0" err="1"/>
                <a:t>LightRAG</a:t>
              </a:r>
              <a:r>
                <a:rPr dirty="0"/>
                <a:t> </a:t>
              </a:r>
              <a:r>
                <a:rPr dirty="0" err="1"/>
                <a:t>与知识图谱增量更新</a:t>
              </a:r>
              <a:r>
                <a:rPr dirty="0"/>
                <a:t>。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822960" y="51663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dirty="0" err="1"/>
              <a:t>一句话总结：本项目让大模型具备“读私有文档、记多轮上下文、查结构关系、基于证据回答”的能力</a:t>
            </a:r>
            <a:r>
              <a:rPr dirty="0"/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/>
              <a:t>1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9659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82D5C"/>
                </a:solidFill>
                <a:latin typeface="微软雅黑" panose="020B0503020204020204" charset="-122"/>
              </a:defRPr>
            </a:pPr>
            <a:r>
              <a:rPr dirty="0" err="1"/>
              <a:t>谢谢聆听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微软雅黑" panose="020B0503020204020204" charset="-122"/>
              </a:defRPr>
            </a:pPr>
            <a:r>
              <a:t>欢迎各位老师批评指正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 err="1"/>
              <a:t>基于</a:t>
            </a:r>
            <a:r>
              <a:rPr dirty="0"/>
              <a:t> RAG </a:t>
            </a:r>
            <a:r>
              <a:rPr dirty="0" err="1"/>
              <a:t>的角色扮演问答系统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966960" y="6473952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/>
              <a:t>1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6388bee2eda2367df1fec39d3a20e84764a900"/>
  <p:tag name="KSO_WM_NEWLAYOUT_ID" val="slide_21d876bcd5574a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6388bee2eda2367df1fec39d3a20e84764a900"/>
  <p:tag name="KSO_WM_NEWLAYOUT_ID" val="slide_21d876bcd5574ab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5,&quot;left&quot;:118.15,&quot;top&quot;:86.45,&quot;width&quot;:838.79992125984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5,&quot;left&quot;:118.15,&quot;top&quot;:86.45,&quot;width&quot;:838.799921259842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5,&quot;left&quot;:118.15,&quot;top&quot;:86.45,&quot;width&quot;:838.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5,&quot;left&quot;:118.15,&quot;top&quot;:86.45,&quot;width&quot;:838.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5,&quot;left&quot;:118.15,&quot;top&quot;:86.45,&quot;width&quot;:838.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5,&quot;left&quot;:118.15,&quot;top&quot;:86.45,&quot;width&quot;:838.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5,&quot;left&quot;:118.15,&quot;top&quot;:86.45,&quot;width&quot;:838.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5,&quot;left&quot;:118.15,&quot;top&quot;:86.45,&quot;width&quot;:838.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5,&quot;left&quot;:118.15,&quot;top&quot;:86.45,&quot;width&quot;:838.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5,&quot;left&quot;:118.15,&quot;top&quot;:86.45,&quot;width&quot;:838.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5,&quot;left&quot;:118.15,&quot;top&quot;:86.45,&quot;width&quot;:838.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56,&quot;left&quot;:64.8,&quot;top&quot;:97.2,&quot;width&quot;:813.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9.60999999999999,&quot;left&quot;:39.6,&quot;top&quot;:104.4,&quot;width&quot;:885.5999212598424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0,&quot;left&quot;:57.6,&quot;top&quot;:97.2,&quot;width&quot;:828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0,&quot;left&quot;:57.6,&quot;top&quot;:97.2,&quot;width&quot;:828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0,&quot;left&quot;:57.6,&quot;top&quot;:97.2,&quot;width&quot;:828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0,&quot;left&quot;:57.6,&quot;top&quot;:97.2,&quot;width&quot;:828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0,&quot;left&quot;:57.6,&quot;top&quot;:97.2,&quot;width&quot;:828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0,&quot;left&quot;:57.6,&quot;top&quot;:97.2,&quot;width&quot;:828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0,&quot;left&quot;:57.6,&quot;top&quot;:97.2,&quot;width&quot;:828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0,&quot;left&quot;:57.6,&quot;top&quot;:97.2,&quot;width&quot;:828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0,&quot;left&quot;:57.6,&quot;top&quot;:97.2,&quot;width&quot;:828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SLIDE_ID" val="slide_21d876bcd5574ab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1699</Words>
  <Application>Microsoft Office PowerPoint</Application>
  <PresentationFormat>宽屏</PresentationFormat>
  <Paragraphs>257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等线</vt:lpstr>
      <vt:lpstr>方正粗黑宋简体</vt:lpstr>
      <vt:lpstr>华文仿宋</vt:lpstr>
      <vt:lpstr>宋体</vt:lpstr>
      <vt:lpstr>微软雅黑</vt:lpstr>
      <vt:lpstr>Arial</vt:lpstr>
      <vt:lpstr>Calibri</vt:lpstr>
      <vt:lpstr>Merriweather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zi; mu</dc:creator>
  <dc:description>generated using python-pptx</dc:description>
  <cp:lastModifiedBy>zi mu</cp:lastModifiedBy>
  <cp:revision>38</cp:revision>
  <dcterms:created xsi:type="dcterms:W3CDTF">2013-01-27T09:14:00Z</dcterms:created>
  <dcterms:modified xsi:type="dcterms:W3CDTF">2026-05-28T08:31:42Z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B1C3EF1EEC024EB1AD23582F10E923A0_12</vt:lpwstr>
  </property>
  <property fmtid="{D5CDD505-2E9C-101B-9397-08002B2CF9AE}" pid="3" name="KSOProductBuildVer">
    <vt:lpwstr>2052-12.1.0.26375</vt:lpwstr>
  </property>
</Properties>
</file>