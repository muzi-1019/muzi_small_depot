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-320040"/>
            <a:ext cx="4663440" cy="7498079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0" y="731520"/>
            <a:ext cx="2560320" cy="2560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80960" y="4297680"/>
            <a:ext cx="3474720" cy="15544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949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基于 RAG 的角色扮演系统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6949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>
                <a:solidFill>
                  <a:srgbClr val="BFDBFE"/>
                </a:solidFill>
                <a:latin typeface="Microsoft YaHei"/>
              </a:defRPr>
            </a:pPr>
            <a:r>
              <a:rPr sz="1900" b="0">
                <a:solidFill>
                  <a:srgbClr val="BFDBFE"/>
                </a:solidFill>
                <a:latin typeface="Microsoft YaHei"/>
              </a:rPr>
              <a:t>项目详细讲解 · PDF 解析与稳定性优化版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63240"/>
            <a:ext cx="205740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081528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复杂 PDF 解析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3063240"/>
            <a:ext cx="205740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3081528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Hybrid 检索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3063240"/>
            <a:ext cx="205740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3081528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LLMClient 封装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3063240"/>
            <a:ext cx="164592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3081528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生产安全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66360"/>
            <a:ext cx="6400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Microsoft YaHei"/>
              </a:defRPr>
            </a:pPr>
            <a:r>
              <a:rPr sz="1600" b="0">
                <a:solidFill>
                  <a:srgbClr val="E2E8F0"/>
                </a:solidFill>
                <a:latin typeface="Microsoft YaHei"/>
              </a:rPr>
              <a:t>从文档解析到知识检索，再到可信问答生成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25880"/>
            <a:ext cx="109728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20240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01 项目整体理解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74320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</a:rPr>
              <a:t>先看系统做什么，再深入 PDF 入库与检索核心。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869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项目定位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03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Role-playing system based on RAG · PDF Ingest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让角色对话具备基于文档的事实回答能力。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33375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1" y="1993392"/>
            <a:ext cx="5029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69748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用户侧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246120"/>
            <a:ext cx="278892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选择角色、上传知识、发起对话、查看引用来源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691640"/>
            <a:ext cx="33375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28032" y="1993392"/>
            <a:ext cx="50292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269748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知识侧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3246120"/>
            <a:ext cx="278892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PDF / 文本资料被解析、切分、向量化并写入 Milvus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691640"/>
            <a:ext cx="33375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22792" y="1993392"/>
            <a:ext cx="50292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2792" y="269748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模型侧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3246120"/>
            <a:ext cx="278892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结合角色设定、记忆、实时上下文和 RAG 上下文生成回答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869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一次完整问答链路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04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Role-playing system based on RAG · PDF Ingest 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1828800" cy="10789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331720"/>
            <a:ext cx="1609344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用户提问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679192"/>
            <a:ext cx="384047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71215" y="2148840"/>
            <a:ext cx="1828800" cy="107899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0944" y="2331720"/>
            <a:ext cx="1609344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ChatService</a:t>
            </a:r>
            <a:br/>
            <a:r>
              <a:rPr sz="1500" b="1">
                <a:solidFill>
                  <a:srgbClr val="FFFFFF"/>
                </a:solidFill>
                <a:latin typeface="Microsoft YaHei"/>
              </a:rPr>
              <a:t>编排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00016" y="2679192"/>
            <a:ext cx="384048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84064" y="2148840"/>
            <a:ext cx="1828800" cy="10789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2331720"/>
            <a:ext cx="1609344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RAG 检索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12864" y="2679192"/>
            <a:ext cx="384048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96912" y="2148840"/>
            <a:ext cx="1828800" cy="107899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331720"/>
            <a:ext cx="1609344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LLM 生成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25712" y="2679192"/>
            <a:ext cx="384048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509760" y="2148840"/>
            <a:ext cx="1828800" cy="107899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19488" y="2331720"/>
            <a:ext cx="1609344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保存对话</a:t>
            </a:r>
            <a:br/>
            <a:r>
              <a:rPr sz="1500" b="1">
                <a:solidFill>
                  <a:srgbClr val="FFFFFF"/>
                </a:solidFill>
                <a:latin typeface="Microsoft YaHei"/>
              </a:rPr>
              <a:t>返回来源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60520"/>
            <a:ext cx="987552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4370832"/>
            <a:ext cx="9326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563EB"/>
                </a:solidFill>
                <a:latin typeface="Microsoft YaHei"/>
              </a:defRPr>
            </a:pPr>
            <a:r>
              <a:rPr sz="1700" b="1">
                <a:solidFill>
                  <a:srgbClr val="2563EB"/>
                </a:solidFill>
                <a:latin typeface="Microsoft YaHei"/>
              </a:rPr>
              <a:t>核心思想：先检索可靠上下文，再让大模型基于上下文回答。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869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系统总体架构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05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Role-playing system based on RAG · PDF Ingest 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24128"/>
            <a:ext cx="10652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024128"/>
            <a:ext cx="2240280" cy="1143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335024"/>
            <a:ext cx="187451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前端交互层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417320"/>
            <a:ext cx="1417320" cy="3291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435608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角色选择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435608"/>
            <a:ext cx="14173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Microsoft YaHei"/>
              </a:defRPr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角色选择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417320"/>
            <a:ext cx="1417320" cy="3291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435608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聊天界面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435608"/>
            <a:ext cx="14173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Microsoft YaHei"/>
              </a:defRPr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聊天界面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417320"/>
            <a:ext cx="1417320" cy="3291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435608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知识上传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435608"/>
            <a:ext cx="14173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Microsoft YaHei"/>
              </a:defRPr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知识上传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417320"/>
            <a:ext cx="1417320" cy="3291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435608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来源展示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435608"/>
            <a:ext cx="14173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Microsoft YaHei"/>
              </a:defRPr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来源展示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2624328"/>
            <a:ext cx="10652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2624328"/>
            <a:ext cx="2240280" cy="1143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2935224"/>
            <a:ext cx="187451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后端业务层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3017520"/>
            <a:ext cx="1417320" cy="3291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3035808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FastAPI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3035808"/>
            <a:ext cx="14173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Microsoft YaHei"/>
              </a:defRPr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FastAPI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3017520"/>
            <a:ext cx="1874519" cy="3291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3035808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ChatService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035808"/>
            <a:ext cx="187451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Microsoft YaHei"/>
              </a:defRPr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ChatService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3017520"/>
            <a:ext cx="1874519" cy="3291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3035808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KnowledgeService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035808"/>
            <a:ext cx="187451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Microsoft YaHei"/>
              </a:defRPr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KnowledgeService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3017520"/>
            <a:ext cx="1874519" cy="3291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3035808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PDFIngestService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3035808"/>
            <a:ext cx="187451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Microsoft YaHei"/>
              </a:defRPr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PDFIngestService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224528"/>
            <a:ext cx="10652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7240" y="4224528"/>
            <a:ext cx="2240280" cy="1143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4535424"/>
            <a:ext cx="187451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数据与 AI 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46120" y="4617720"/>
            <a:ext cx="1417320" cy="3291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46120" y="4636007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MySQL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6120" y="4636008"/>
            <a:ext cx="14173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Microsoft YaHei"/>
              </a:defRPr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MySQL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46320" y="4617720"/>
            <a:ext cx="1417320" cy="3291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4636007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Redis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4636008"/>
            <a:ext cx="14173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Microsoft YaHei"/>
              </a:defRPr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Redis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46520" y="4617720"/>
            <a:ext cx="1417320" cy="3291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4636007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Milvus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4636008"/>
            <a:ext cx="14173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Microsoft YaHei"/>
              </a:defRPr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Milvus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4617720"/>
            <a:ext cx="1417320" cy="3291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0" y="4636007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Neo4j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4636008"/>
            <a:ext cx="14173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Microsoft YaHei"/>
              </a:defRPr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Neo4j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46920" y="4617720"/>
            <a:ext cx="1874519" cy="3291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46920" y="4636007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LLMClient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46920" y="4636008"/>
            <a:ext cx="187451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Microsoft YaHei"/>
              </a:defRPr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LLMClient</a:t>
            </a:r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25880"/>
            <a:ext cx="109728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20240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02 PDFIngestService 核心链路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74320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</a:rPr>
              <a:t>它是项目中最关键的知识处理管道。</a:t>
            </a:r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869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为什么它是核心模块？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07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Role-playing system based on RAG · PDF Ingest 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143000"/>
            <a:ext cx="5074920" cy="45262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143000"/>
            <a:ext cx="5074920" cy="4526280"/>
          </a:xfrm>
          <a:prstGeom prst="roundRect">
            <a:avLst/>
          </a:prstGeom>
          <a:solidFill>
            <a:srgbClr val="FAF5FF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481328"/>
            <a:ext cx="4297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2563EB"/>
                </a:solidFill>
                <a:latin typeface="Microsoft YaHei"/>
              </a:defRPr>
            </a:pPr>
            <a:r>
              <a:rPr sz="2300" b="1">
                <a:solidFill>
                  <a:srgbClr val="2563EB"/>
                </a:solidFill>
                <a:latin typeface="Microsoft YaHei"/>
              </a:rPr>
              <a:t>知识入库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481328"/>
            <a:ext cx="4297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7C3AED"/>
                </a:solidFill>
                <a:latin typeface="Microsoft YaHei"/>
              </a:defRPr>
            </a:pPr>
            <a:r>
              <a:rPr sz="2300" b="1">
                <a:solidFill>
                  <a:srgbClr val="7C3AED"/>
                </a:solidFill>
                <a:latin typeface="Microsoft YaHei"/>
              </a:rPr>
              <a:t>知识检索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148840"/>
            <a:ext cx="4343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34155"/>
                </a:solidFill>
                <a:latin typeface="Microsoft YaHei"/>
              </a:defRPr>
            </a:pPr>
            <a:r>
              <a:rPr sz="1700" b="0">
                <a:solidFill>
                  <a:srgbClr val="334155"/>
                </a:solidFill>
                <a:latin typeface="Microsoft YaHei"/>
              </a:rPr>
              <a:t>PDF 解析</a:t>
            </a:r>
          </a:p>
          <a:p>
            <a:pPr>
              <a:spcAft>
                <a:spcPts val="800"/>
              </a:spcAft>
              <a:defRPr sz="1700" b="0">
                <a:solidFill>
                  <a:srgbClr val="334155"/>
                </a:solidFill>
                <a:latin typeface="Microsoft YaHei"/>
              </a:defRPr>
            </a:pPr>
            <a:r>
              <a:rPr sz="1700" b="0">
                <a:solidFill>
                  <a:srgbClr val="334155"/>
                </a:solidFill>
                <a:latin typeface="Microsoft YaHei"/>
              </a:rPr>
              <a:t>OCR 兜底</a:t>
            </a:r>
          </a:p>
          <a:p>
            <a:pPr>
              <a:spcAft>
                <a:spcPts val="800"/>
              </a:spcAft>
              <a:defRPr sz="1700" b="0">
                <a:solidFill>
                  <a:srgbClr val="334155"/>
                </a:solidFill>
                <a:latin typeface="Microsoft YaHei"/>
              </a:defRPr>
            </a:pPr>
            <a:r>
              <a:rPr sz="1700" b="0">
                <a:solidFill>
                  <a:srgbClr val="334155"/>
                </a:solidFill>
                <a:latin typeface="Microsoft YaHei"/>
              </a:rPr>
              <a:t>表格转 Markdown</a:t>
            </a:r>
          </a:p>
          <a:p>
            <a:pPr>
              <a:spcAft>
                <a:spcPts val="800"/>
              </a:spcAft>
              <a:defRPr sz="1700" b="0">
                <a:solidFill>
                  <a:srgbClr val="334155"/>
                </a:solidFill>
                <a:latin typeface="Microsoft YaHei"/>
              </a:defRPr>
            </a:pPr>
            <a:r>
              <a:rPr sz="1700" b="0">
                <a:solidFill>
                  <a:srgbClr val="334155"/>
                </a:solidFill>
                <a:latin typeface="Microsoft YaHei"/>
              </a:rPr>
              <a:t>图片转描述</a:t>
            </a:r>
          </a:p>
          <a:p>
            <a:pPr>
              <a:spcAft>
                <a:spcPts val="800"/>
              </a:spcAft>
              <a:defRPr sz="1700" b="0">
                <a:solidFill>
                  <a:srgbClr val="334155"/>
                </a:solidFill>
                <a:latin typeface="Microsoft YaHei"/>
              </a:defRPr>
            </a:pPr>
            <a:r>
              <a:rPr sz="1700" b="0">
                <a:solidFill>
                  <a:srgbClr val="334155"/>
                </a:solidFill>
                <a:latin typeface="Microsoft YaHei"/>
              </a:rPr>
              <a:t>切分 + 向量化 + 入库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148840"/>
            <a:ext cx="4343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34155"/>
                </a:solidFill>
                <a:latin typeface="Microsoft YaHei"/>
              </a:defRPr>
            </a:pPr>
            <a:r>
              <a:rPr sz="1700" b="0">
                <a:solidFill>
                  <a:srgbClr val="334155"/>
                </a:solidFill>
                <a:latin typeface="Microsoft YaHei"/>
              </a:rPr>
              <a:t>BM25 关键词召回</a:t>
            </a:r>
          </a:p>
          <a:p>
            <a:pPr>
              <a:spcAft>
                <a:spcPts val="800"/>
              </a:spcAft>
              <a:defRPr sz="1700" b="0">
                <a:solidFill>
                  <a:srgbClr val="334155"/>
                </a:solidFill>
                <a:latin typeface="Microsoft YaHei"/>
              </a:defRPr>
            </a:pPr>
            <a:r>
              <a:rPr sz="1700" b="0">
                <a:solidFill>
                  <a:srgbClr val="334155"/>
                </a:solidFill>
                <a:latin typeface="Microsoft YaHei"/>
              </a:rPr>
              <a:t>Milvus 向量召回</a:t>
            </a:r>
          </a:p>
          <a:p>
            <a:pPr>
              <a:spcAft>
                <a:spcPts val="800"/>
              </a:spcAft>
              <a:defRPr sz="1700" b="0">
                <a:solidFill>
                  <a:srgbClr val="334155"/>
                </a:solidFill>
                <a:latin typeface="Microsoft YaHei"/>
              </a:defRPr>
            </a:pPr>
            <a:r>
              <a:rPr sz="1700" b="0">
                <a:solidFill>
                  <a:srgbClr val="334155"/>
                </a:solidFill>
                <a:latin typeface="Microsoft YaHei"/>
              </a:rPr>
              <a:t>Neo4j 图谱召回</a:t>
            </a:r>
          </a:p>
          <a:p>
            <a:pPr>
              <a:spcAft>
                <a:spcPts val="800"/>
              </a:spcAft>
              <a:defRPr sz="1700" b="0">
                <a:solidFill>
                  <a:srgbClr val="334155"/>
                </a:solidFill>
                <a:latin typeface="Microsoft YaHei"/>
              </a:defRPr>
            </a:pPr>
            <a:r>
              <a:rPr sz="1700" b="0">
                <a:solidFill>
                  <a:srgbClr val="334155"/>
                </a:solidFill>
                <a:latin typeface="Microsoft YaHei"/>
              </a:rPr>
              <a:t>Hybrid 融合</a:t>
            </a:r>
          </a:p>
          <a:p>
            <a:pPr>
              <a:spcAft>
                <a:spcPts val="800"/>
              </a:spcAft>
              <a:defRPr sz="1700" b="0">
                <a:solidFill>
                  <a:srgbClr val="334155"/>
                </a:solidFill>
                <a:latin typeface="Microsoft YaHei"/>
              </a:defRPr>
            </a:pPr>
            <a:r>
              <a:rPr sz="1700" b="0">
                <a:solidFill>
                  <a:srgbClr val="334155"/>
                </a:solidFill>
                <a:latin typeface="Microsoft YaHei"/>
              </a:rPr>
              <a:t>Rerank 精排</a:t>
            </a:r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869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PDF 入库主流程：ingest_file()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08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Role-playing system based on RAG · PDF Ingest 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1828800" cy="10789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331720"/>
            <a:ext cx="1609344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PDF 文件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679192"/>
            <a:ext cx="384047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71215" y="2148840"/>
            <a:ext cx="1828800" cy="107899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0944" y="2331720"/>
            <a:ext cx="1609344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抽取文本</a:t>
            </a:r>
            <a:br/>
            <a:r>
              <a:rPr sz="1500" b="1">
                <a:solidFill>
                  <a:srgbClr val="FFFFFF"/>
                </a:solidFill>
                <a:latin typeface="Microsoft YaHei"/>
              </a:rPr>
              <a:t>_extract_text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00016" y="2679192"/>
            <a:ext cx="384048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84064" y="2148840"/>
            <a:ext cx="1828800" cy="10789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2331720"/>
            <a:ext cx="1609344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切分 Chunk</a:t>
            </a:r>
            <a:br/>
            <a:r>
              <a:rPr sz="1500" b="1">
                <a:solidFill>
                  <a:srgbClr val="FFFFFF"/>
                </a:solidFill>
                <a:latin typeface="Microsoft YaHei"/>
              </a:rPr>
              <a:t>_chunk_text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12864" y="2679192"/>
            <a:ext cx="384048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96912" y="2148840"/>
            <a:ext cx="1828800" cy="107899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331720"/>
            <a:ext cx="1609344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生成记录</a:t>
            </a:r>
            <a:br/>
            <a:r>
              <a:rPr sz="1500" b="1">
                <a:solidFill>
                  <a:srgbClr val="FFFFFF"/>
                </a:solidFill>
                <a:latin typeface="Microsoft YaHei"/>
              </a:rPr>
              <a:t>_build_row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25712" y="2679192"/>
            <a:ext cx="384048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509760" y="2148840"/>
            <a:ext cx="1828800" cy="107899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19488" y="2331720"/>
            <a:ext cx="1609344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写入 Milvus</a:t>
            </a:r>
            <a:br/>
            <a:r>
              <a:rPr sz="1500" b="1">
                <a:solidFill>
                  <a:srgbClr val="FFFFFF"/>
                </a:solidFill>
                <a:latin typeface="Microsoft YaHei"/>
              </a:rPr>
              <a:t>_insert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60520"/>
            <a:ext cx="987552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4370832"/>
            <a:ext cx="9326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563EB"/>
                </a:solidFill>
                <a:latin typeface="Microsoft YaHei"/>
              </a:defRPr>
            </a:pPr>
            <a:r>
              <a:rPr sz="1700" b="1">
                <a:solidFill>
                  <a:srgbClr val="2563EB"/>
                </a:solidFill>
                <a:latin typeface="Microsoft YaHei"/>
              </a:rPr>
              <a:t>一份 PDF 最终会变成多条带文本、关键词、向量和来源信息的知识记录。</a:t>
            </a:r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869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复杂 PDF 解析：四路信息合并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09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Role-playing system based on RAG · PDF Ingest 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14300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143000"/>
            <a:ext cx="16459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417320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</a:rPr>
              <a:t>文本层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47672"/>
            <a:ext cx="4251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page.get_text 直接提取可复制文本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4300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143000"/>
            <a:ext cx="164592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417320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</a:rPr>
              <a:t>OCR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947672"/>
            <a:ext cx="4251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扫描页或图片页通过 RapidOCR 识别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38328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383280"/>
            <a:ext cx="164592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657600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</a:rPr>
              <a:t>表格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187952"/>
            <a:ext cx="4251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find_tables 后转 Markdown 保留行列结构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38328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383280"/>
            <a:ext cx="164592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3657600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</a:rPr>
              <a:t>图片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187952"/>
            <a:ext cx="4251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视觉模型生成中文描述进入检索</a:t>
            </a:r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869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OCR 扫描件解析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10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Role-playing system based on RAG · PDF Ingest 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005840"/>
            <a:ext cx="10561320" cy="1143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07592"/>
            <a:ext cx="9966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只在需要时启用 OCR，兼顾速度与覆盖率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578608"/>
            <a:ext cx="9921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53312" y="2715768"/>
            <a:ext cx="256032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2651760"/>
            <a:ext cx="8778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触发条件：页面文本层少于 30 个字符。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328415"/>
            <a:ext cx="9921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53312" y="3465575"/>
            <a:ext cx="256032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3401568"/>
            <a:ext cx="8778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流程：PDF 页面 → 2 倍渲染 → 图片 → RapidOCR → 文本拼接。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078224"/>
            <a:ext cx="9921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53312" y="4215384"/>
            <a:ext cx="256032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4151376"/>
            <a:ext cx="8778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价值：扫描版 PDF、截图页、图片型资料也能进入知识库。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4828031"/>
            <a:ext cx="9921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53312" y="4965192"/>
            <a:ext cx="256032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901183"/>
            <a:ext cx="8778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容错：OCR 不可用时跳过，不影响普通 PDF 入库。</a:t>
            </a:r>
          </a:p>
        </p:txBody>
      </p:sp>
    </p:spTree>
  </p:cSld>
  <p:transition spd="med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869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表格解析：把二维结构保留下来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11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Role-playing system based on RAG · PDF Ingest 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005840"/>
            <a:ext cx="10561320" cy="1143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07592"/>
            <a:ext cx="9966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财报、股权、募集资金等表格不能只当普通文本处理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578608"/>
            <a:ext cx="9921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53312" y="2715768"/>
            <a:ext cx="256032" cy="2560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2651760"/>
            <a:ext cx="8778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使用 PyMuPDF 的 page.find_tables() 检测表格。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328415"/>
            <a:ext cx="9921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53312" y="3465575"/>
            <a:ext cx="256032" cy="2560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3401568"/>
            <a:ext cx="8778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table.extract() 得到二维数组。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078224"/>
            <a:ext cx="9921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53312" y="4215384"/>
            <a:ext cx="256032" cy="2560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4151376"/>
            <a:ext cx="8778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转换成 Markdown 表格，保留表头、行、列关系。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4828031"/>
            <a:ext cx="9921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53312" y="4965192"/>
            <a:ext cx="256032" cy="2560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901183"/>
            <a:ext cx="8778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提升金额、年份、比例、指标类问题的回答稳定性。</a:t>
            </a:r>
          </a:p>
        </p:txBody>
      </p:sp>
    </p:spTree>
  </p:cSld>
  <p:transition spd="med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869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图片与图表解析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12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Role-playing system based on RAG · PDF Ingest 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005840"/>
            <a:ext cx="10561320" cy="1143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07592"/>
            <a:ext cx="9966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让图表、组织结构图、截图也能被 RAG 检索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578608"/>
            <a:ext cx="9921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53312" y="2715768"/>
            <a:ext cx="256032" cy="2560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2651760"/>
            <a:ext cx="8778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每页最多处理前 3 张大图，过滤 Logo 和装饰元素。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328415"/>
            <a:ext cx="9921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53312" y="3465575"/>
            <a:ext cx="256032" cy="2560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3401568"/>
            <a:ext cx="8778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通过 xref 提取图片二进制。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078224"/>
            <a:ext cx="9921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53312" y="4215384"/>
            <a:ext cx="256032" cy="2560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4151376"/>
            <a:ext cx="8778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Base64 data URL 发送给视觉模型。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4828031"/>
            <a:ext cx="9921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53312" y="4965192"/>
            <a:ext cx="256032" cy="2560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901183"/>
            <a:ext cx="8778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生成中文图片描述并追加到页面文本中。</a:t>
            </a:r>
          </a:p>
        </p:txBody>
      </p:sp>
    </p:spTree>
  </p:cSld>
  <p:transition spd="med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869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Chunk 入库字段设计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13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Role-playing system based on RAG · PDF Ingest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每个文本块不只是 text，而是一条可追溯、可检索、可融合的知识记录。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33375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1" y="1993392"/>
            <a:ext cx="5029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69748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246120"/>
            <a:ext cx="278892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source_file + chunk_index：展示引用来源并定位原文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691640"/>
            <a:ext cx="33375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28032" y="1993392"/>
            <a:ext cx="50292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269748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检索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3246120"/>
            <a:ext cx="278892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keywords + vector：同时支持 BM25 与向量召回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691640"/>
            <a:ext cx="33375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22792" y="1993392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2792" y="269748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稳定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3246120"/>
            <a:ext cx="278892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chunk_hash：生成文本指纹，便于去重和追踪</a:t>
            </a:r>
          </a:p>
        </p:txBody>
      </p:sp>
    </p:spTree>
  </p:cSld>
  <p:transition spd="med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25880"/>
            <a:ext cx="109728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20240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03 检索与回答生成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74320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</a:rPr>
              <a:t>从“能入库”到“能准确召回”。</a:t>
            </a:r>
          </a:p>
        </p:txBody>
      </p:sp>
    </p:spTree>
  </p:cSld>
  <p:transition spd="med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869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为什么要 Hybrid 检索？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15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Role-playing system based on RAG · PDF Ingest 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33375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3337560" cy="7132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2880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BM25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31720"/>
            <a:ext cx="26974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334155"/>
                </a:solidFill>
                <a:latin typeface="Microsoft YaHei"/>
              </a:defRPr>
            </a:pPr>
            <a:r>
              <a:rPr sz="1700" b="0">
                <a:solidFill>
                  <a:srgbClr val="334155"/>
                </a:solidFill>
                <a:latin typeface="Microsoft YaHei"/>
              </a:rPr>
              <a:t>擅长数字、年份、人名、公司名等精确匹配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234440"/>
            <a:ext cx="33375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1234440"/>
            <a:ext cx="3337560" cy="7132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417320"/>
            <a:ext cx="2880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向量检索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331720"/>
            <a:ext cx="26974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334155"/>
                </a:solidFill>
                <a:latin typeface="Microsoft YaHei"/>
              </a:defRPr>
            </a:pPr>
            <a:r>
              <a:rPr sz="1700" b="0">
                <a:solidFill>
                  <a:srgbClr val="334155"/>
                </a:solidFill>
                <a:latin typeface="Microsoft YaHei"/>
              </a:rPr>
              <a:t>擅长语义泛化和同义改写，例如“主营业务”与“主要从事”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234440"/>
            <a:ext cx="33375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1234440"/>
            <a:ext cx="3337560" cy="7132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417320"/>
            <a:ext cx="2880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Neo4j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331720"/>
            <a:ext cx="26974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334155"/>
                </a:solidFill>
                <a:latin typeface="Microsoft YaHei"/>
              </a:defRPr>
            </a:pPr>
            <a:r>
              <a:rPr sz="1700" b="0">
                <a:solidFill>
                  <a:srgbClr val="334155"/>
                </a:solidFill>
                <a:latin typeface="Microsoft YaHei"/>
              </a:rPr>
              <a:t>擅长股权关系、关联关系、实体之间的结构化连接</a:t>
            </a:r>
          </a:p>
        </p:txBody>
      </p:sp>
    </p:spTree>
  </p:cSld>
  <p:transition spd="med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869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Hybrid 检索融合流程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16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Role-playing system based on RAG · PDF Ingest 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1828800" cy="10789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331720"/>
            <a:ext cx="1609344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问题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679192"/>
            <a:ext cx="384047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71215" y="2148840"/>
            <a:ext cx="1828800" cy="107899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0944" y="2331720"/>
            <a:ext cx="1609344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BM25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00016" y="2679192"/>
            <a:ext cx="384048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84064" y="2148840"/>
            <a:ext cx="1828800" cy="107899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2331720"/>
            <a:ext cx="1609344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Vector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12864" y="2679192"/>
            <a:ext cx="384048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96912" y="2148840"/>
            <a:ext cx="1828800" cy="10789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331720"/>
            <a:ext cx="1609344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Neo4j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25712" y="2679192"/>
            <a:ext cx="384048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509760" y="2148840"/>
            <a:ext cx="1828800" cy="107899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19488" y="2331720"/>
            <a:ext cx="1609344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Rerank</a:t>
            </a:r>
            <a:br/>
            <a:r>
              <a:rPr sz="1500" b="1">
                <a:solidFill>
                  <a:srgbClr val="FFFFFF"/>
                </a:solidFill>
                <a:latin typeface="Microsoft YaHei"/>
              </a:rPr>
              <a:t>Top-K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60520"/>
            <a:ext cx="987552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4370832"/>
            <a:ext cx="9326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563EB"/>
                </a:solidFill>
                <a:latin typeface="Microsoft YaHei"/>
              </a:defRPr>
            </a:pPr>
            <a:r>
              <a:rPr sz="1700" b="1">
                <a:solidFill>
                  <a:srgbClr val="2563EB"/>
                </a:solidFill>
                <a:latin typeface="Microsoft YaHei"/>
              </a:rPr>
              <a:t>默认融合权重：向量 0.6，关键词 0.4；图谱作为结构化候选补充。</a:t>
            </a:r>
          </a:p>
        </p:txBody>
      </p:sp>
    </p:spTree>
  </p:cSld>
  <p:transition spd="med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869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Hybrid 检索稳定性优化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17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Role-playing system based on RAG · PDF Ingest 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005840"/>
            <a:ext cx="10561320" cy="1143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07592"/>
            <a:ext cx="9966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三路召回并行执行，单路失败自动降级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578608"/>
            <a:ext cx="9921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53312" y="2715768"/>
            <a:ext cx="256032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2651760"/>
            <a:ext cx="8778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ThreadPoolExecutor 同时提交 BM25、Milvus Vector、Neo4j 三路召回。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328415"/>
            <a:ext cx="9921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53312" y="3465575"/>
            <a:ext cx="256032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3401568"/>
            <a:ext cx="8778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_safe_retrieval_result 统一接收 Future 结果，异常时记录日志并返回空列表。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078224"/>
            <a:ext cx="9921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53312" y="4215384"/>
            <a:ext cx="256032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4151376"/>
            <a:ext cx="8778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Milvus、BM25 或 Neo4j 任一路临时失败，不会中断整次问答。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4828031"/>
            <a:ext cx="9921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53312" y="4965192"/>
            <a:ext cx="256032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901183"/>
            <a:ext cx="8778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融合阶段继续使用其他可用候选，保证 RAG 主流程优先可用。</a:t>
            </a:r>
          </a:p>
        </p:txBody>
      </p:sp>
    </p:spTree>
  </p:cSld>
  <p:transition spd="med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869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Rerank 精排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18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Role-playing system based on RAG · PDF Ingest 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005840"/>
            <a:ext cx="10561320" cy="1143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07592"/>
            <a:ext cx="9966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第一阶段负责召回，第二阶段负责排序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578608"/>
            <a:ext cx="9921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53312" y="2715768"/>
            <a:ext cx="256032" cy="2560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2651760"/>
            <a:ext cx="8778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Hybrid 先尽量多召回候选，避免漏掉答案。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328415"/>
            <a:ext cx="9921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53312" y="3465575"/>
            <a:ext cx="256032" cy="2560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3401568"/>
            <a:ext cx="8778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Rerank 判断“问题—片段”的真实相关性。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078224"/>
            <a:ext cx="9921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53312" y="4215384"/>
            <a:ext cx="256032" cy="2560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4151376"/>
            <a:ext cx="8778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减少无关上下文进入 LLM，降低幻觉概率。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4828031"/>
            <a:ext cx="9921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53312" y="4965192"/>
            <a:ext cx="256032" cy="2560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901183"/>
            <a:ext cx="8778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外部 Rerank 失败时回退到 hybrid_score，保证可用性。</a:t>
            </a:r>
          </a:p>
        </p:txBody>
      </p:sp>
    </p:spTree>
  </p:cSld>
  <p:transition spd="med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869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容错与降级设计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19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Role-playing system based on RAG · PDF Ingest 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24128"/>
            <a:ext cx="10652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024128"/>
            <a:ext cx="2240280" cy="1143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335024"/>
            <a:ext cx="187451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解析降级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417320"/>
            <a:ext cx="1874519" cy="3291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435608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PyMuPDF 不可用 → pypdf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435608"/>
            <a:ext cx="187451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Microsoft YaHei"/>
              </a:defRPr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PyMuPDF 不可用 → pypdf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417320"/>
            <a:ext cx="1874519" cy="3291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435608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OCR 失败 → 跳过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435608"/>
            <a:ext cx="187451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Microsoft YaHei"/>
              </a:defRPr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OCR 失败 → 跳过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417320"/>
            <a:ext cx="1874519" cy="3291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435608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表格失败 → 跳过单表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1435608"/>
            <a:ext cx="187451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Microsoft YaHei"/>
              </a:defRPr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表格失败 → 跳过单表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624328"/>
            <a:ext cx="10652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2624328"/>
            <a:ext cx="2240280" cy="1143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2935224"/>
            <a:ext cx="187451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AI 降级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3017520"/>
            <a:ext cx="1874519" cy="3291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035808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图片描述失败 → 跳过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3035808"/>
            <a:ext cx="187451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Microsoft YaHei"/>
              </a:defRPr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图片描述失败 → 跳过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3017520"/>
            <a:ext cx="1874519" cy="3291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3035808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Embedding 失败 → SHA256 伪向量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035808"/>
            <a:ext cx="187451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Microsoft YaHei"/>
              </a:defRPr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Embedding 失败 → SHA256 伪向量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3017520"/>
            <a:ext cx="1874519" cy="3291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3035808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Rerank 失败 → 融合分排序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3035808"/>
            <a:ext cx="187451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Microsoft YaHei"/>
              </a:defRPr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Rerank 失败 → 融合分排序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224528"/>
            <a:ext cx="10652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7240" y="4224528"/>
            <a:ext cx="2240280" cy="1143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535424"/>
            <a:ext cx="187451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检索降级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46120" y="4617720"/>
            <a:ext cx="1417320" cy="3291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6120" y="4636007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单路异常隔离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4636008"/>
            <a:ext cx="14173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Microsoft YaHei"/>
              </a:defRPr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单路异常隔离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46320" y="4617720"/>
            <a:ext cx="1874519" cy="3291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0" y="4636007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Neo4j 失败 → 空图谱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4636008"/>
            <a:ext cx="187451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Microsoft YaHei"/>
              </a:defRPr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Neo4j 失败 → 空图谱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03720" y="4617720"/>
            <a:ext cx="1417320" cy="329184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03720" y="4636007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缓存减少重复计算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4636008"/>
            <a:ext cx="14173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Microsoft YaHei"/>
              </a:defRPr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缓存减少重复计算</a:t>
            </a:r>
          </a:p>
        </p:txBody>
      </p:sp>
    </p:spTree>
  </p:cSld>
  <p:transition spd="med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25880"/>
            <a:ext cx="109728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20240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04 LLM 调用与工程优化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74320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</a:rPr>
              <a:t>把外部模型调用、跨域和生产配置做成统一、可维护的工程能力。</a:t>
            </a:r>
          </a:p>
        </p:txBody>
      </p:sp>
    </p:spTree>
  </p:cSld>
  <p:transition spd="med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869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LLM 调用统一封装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21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Role-playing system based on RAG · PDF Ingest 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143000"/>
            <a:ext cx="5074920" cy="45262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143000"/>
            <a:ext cx="5074920" cy="4526280"/>
          </a:xfrm>
          <a:prstGeom prst="roundRect">
            <a:avLst/>
          </a:prstGeom>
          <a:solidFill>
            <a:srgbClr val="FAF5FF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481328"/>
            <a:ext cx="4297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2563EB"/>
                </a:solidFill>
                <a:latin typeface="Microsoft YaHei"/>
              </a:defRPr>
            </a:pPr>
            <a:r>
              <a:rPr sz="2300" b="1">
                <a:solidFill>
                  <a:srgbClr val="2563EB"/>
                </a:solidFill>
                <a:latin typeface="Microsoft YaHei"/>
              </a:rPr>
              <a:t>LLMService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481328"/>
            <a:ext cx="4297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7C3AED"/>
                </a:solidFill>
                <a:latin typeface="Microsoft YaHei"/>
              </a:defRPr>
            </a:pPr>
            <a:r>
              <a:rPr sz="2300" b="1">
                <a:solidFill>
                  <a:srgbClr val="7C3AED"/>
                </a:solidFill>
                <a:latin typeface="Microsoft YaHei"/>
              </a:rPr>
              <a:t>LLMClient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148840"/>
            <a:ext cx="4343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34155"/>
                </a:solidFill>
                <a:latin typeface="Microsoft YaHei"/>
              </a:defRPr>
            </a:pPr>
            <a:r>
              <a:rPr sz="1700" b="0">
                <a:solidFill>
                  <a:srgbClr val="334155"/>
                </a:solidFill>
                <a:latin typeface="Microsoft YaHei"/>
              </a:rPr>
              <a:t>负责 Prompt 编排</a:t>
            </a:r>
          </a:p>
          <a:p>
            <a:pPr>
              <a:spcAft>
                <a:spcPts val="800"/>
              </a:spcAft>
              <a:defRPr sz="1700" b="0">
                <a:solidFill>
                  <a:srgbClr val="334155"/>
                </a:solidFill>
                <a:latin typeface="Microsoft YaHei"/>
              </a:defRPr>
            </a:pPr>
            <a:r>
              <a:rPr sz="1700" b="0">
                <a:solidFill>
                  <a:srgbClr val="334155"/>
                </a:solidFill>
                <a:latin typeface="Microsoft YaHei"/>
              </a:rPr>
              <a:t>支持 generate / generate_stream</a:t>
            </a:r>
          </a:p>
          <a:p>
            <a:pPr>
              <a:spcAft>
                <a:spcPts val="800"/>
              </a:spcAft>
              <a:defRPr sz="1700" b="0">
                <a:solidFill>
                  <a:srgbClr val="334155"/>
                </a:solidFill>
                <a:latin typeface="Microsoft YaHei"/>
              </a:defRPr>
            </a:pPr>
            <a:r>
              <a:rPr sz="1700" b="0">
                <a:solidFill>
                  <a:srgbClr val="334155"/>
                </a:solidFill>
                <a:latin typeface="Microsoft YaHei"/>
              </a:rPr>
              <a:t>负责摘要 summarize</a:t>
            </a:r>
          </a:p>
          <a:p>
            <a:pPr>
              <a:spcAft>
                <a:spcPts val="800"/>
              </a:spcAft>
              <a:defRPr sz="1700" b="0">
                <a:solidFill>
                  <a:srgbClr val="334155"/>
                </a:solidFill>
                <a:latin typeface="Microsoft YaHei"/>
              </a:defRPr>
            </a:pPr>
            <a:r>
              <a:rPr sz="1700" b="0">
                <a:solidFill>
                  <a:srgbClr val="334155"/>
                </a:solidFill>
                <a:latin typeface="Microsoft YaHei"/>
              </a:rPr>
              <a:t>负责 Query Rewrite</a:t>
            </a:r>
          </a:p>
          <a:p>
            <a:pPr>
              <a:spcAft>
                <a:spcPts val="800"/>
              </a:spcAft>
              <a:defRPr sz="1700" b="0">
                <a:solidFill>
                  <a:srgbClr val="334155"/>
                </a:solidFill>
                <a:latin typeface="Microsoft YaHei"/>
              </a:defRPr>
            </a:pPr>
            <a:r>
              <a:rPr sz="1700" b="0">
                <a:solidFill>
                  <a:srgbClr val="334155"/>
                </a:solidFill>
                <a:latin typeface="Microsoft YaHei"/>
              </a:rPr>
              <a:t>解析 SSE 增量内容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148840"/>
            <a:ext cx="4343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34155"/>
                </a:solidFill>
                <a:latin typeface="Microsoft YaHei"/>
              </a:defRPr>
            </a:pPr>
            <a:r>
              <a:rPr sz="1700" b="0">
                <a:solidFill>
                  <a:srgbClr val="334155"/>
                </a:solidFill>
                <a:latin typeface="Microsoft YaHei"/>
              </a:rPr>
              <a:t>统一拼接 /chat/completions</a:t>
            </a:r>
          </a:p>
          <a:p>
            <a:pPr>
              <a:spcAft>
                <a:spcPts val="800"/>
              </a:spcAft>
              <a:defRPr sz="1700" b="0">
                <a:solidFill>
                  <a:srgbClr val="334155"/>
                </a:solidFill>
                <a:latin typeface="Microsoft YaHei"/>
              </a:defRPr>
            </a:pPr>
            <a:r>
              <a:rPr sz="1700" b="0">
                <a:solidFill>
                  <a:srgbClr val="334155"/>
                </a:solidFill>
                <a:latin typeface="Microsoft YaHei"/>
              </a:rPr>
              <a:t>统一生成 Authorization</a:t>
            </a:r>
          </a:p>
          <a:p>
            <a:pPr>
              <a:spcAft>
                <a:spcPts val="800"/>
              </a:spcAft>
              <a:defRPr sz="1700" b="0">
                <a:solidFill>
                  <a:srgbClr val="334155"/>
                </a:solidFill>
                <a:latin typeface="Microsoft YaHei"/>
              </a:defRPr>
            </a:pPr>
            <a:r>
              <a:rPr sz="1700" b="0">
                <a:solidFill>
                  <a:srgbClr val="334155"/>
                </a:solidFill>
                <a:latin typeface="Microsoft YaHei"/>
              </a:rPr>
              <a:t>统一构造 chat_payload</a:t>
            </a:r>
          </a:p>
          <a:p>
            <a:pPr>
              <a:spcAft>
                <a:spcPts val="800"/>
              </a:spcAft>
              <a:defRPr sz="1700" b="0">
                <a:solidFill>
                  <a:srgbClr val="334155"/>
                </a:solidFill>
                <a:latin typeface="Microsoft YaHei"/>
              </a:defRPr>
            </a:pPr>
            <a:r>
              <a:rPr sz="1700" b="0">
                <a:solidFill>
                  <a:srgbClr val="334155"/>
                </a:solidFill>
                <a:latin typeface="Microsoft YaHei"/>
              </a:rPr>
              <a:t>封装非流式 chat</a:t>
            </a:r>
          </a:p>
          <a:p>
            <a:pPr>
              <a:spcAft>
                <a:spcPts val="800"/>
              </a:spcAft>
              <a:defRPr sz="1700" b="0">
                <a:solidFill>
                  <a:srgbClr val="334155"/>
                </a:solidFill>
                <a:latin typeface="Microsoft YaHei"/>
              </a:defRPr>
            </a:pPr>
            <a:r>
              <a:rPr sz="1700" b="0">
                <a:solidFill>
                  <a:srgbClr val="334155"/>
                </a:solidFill>
                <a:latin typeface="Microsoft YaHei"/>
              </a:rPr>
              <a:t>封装流式 chat_stream</a:t>
            </a:r>
          </a:p>
        </p:txBody>
      </p:sp>
    </p:spTree>
  </p:cSld>
  <p:transition spd="med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869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为什么拆出 LLMClient？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22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Role-playing system based on RAG · PDF Ingest 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005840"/>
            <a:ext cx="10561320" cy="1143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07592"/>
            <a:ext cx="9966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把 HTTP 细节从业务服务中剥离，避免重复和分散维护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578608"/>
            <a:ext cx="9921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53312" y="2715768"/>
            <a:ext cx="256032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2651760"/>
            <a:ext cx="8778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摘要、Query Rewrite、普通生成、流式生成都复用同一套 HTTP 调用逻辑。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328415"/>
            <a:ext cx="9921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53312" y="3465575"/>
            <a:ext cx="256032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3401568"/>
            <a:ext cx="8778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以后切换 OpenAI、SiliconFlow、vLLM、SGLang，只需调整 base_url、model、key。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078224"/>
            <a:ext cx="9921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53312" y="4215384"/>
            <a:ext cx="256032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4151376"/>
            <a:ext cx="8778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LLMService 专注业务语义：角色人设、RAG 上下文、记忆和实时上下文。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4828031"/>
            <a:ext cx="9921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53312" y="4965192"/>
            <a:ext cx="256032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901183"/>
            <a:ext cx="8778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LLMClient 专注传输细节：URL、Header、Payload、Timeout、响应解析。</a:t>
            </a:r>
          </a:p>
        </p:txBody>
      </p:sp>
    </p:spTree>
  </p:cSld>
  <p:transition spd="med">
    <p:fade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869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配置与安全优化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23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Role-playing system based on RAG · PDF Ingest 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14300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143000"/>
            <a:ext cx="16459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417320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</a:rPr>
              <a:t>CORS 白名单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47672"/>
            <a:ext cx="4251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cors_allowed_origins 与 cors_allow_origin_regex 限制前端来源，避免生产环境无限放开跨域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4300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143000"/>
            <a:ext cx="164592" cy="1737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417320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</a:rPr>
              <a:t>生产校验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947672"/>
            <a:ext cx="4251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validate_runtime 检查 debug、JWT 密钥、Neo4j 默认密码、LLM API Key 等风险项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38328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383280"/>
            <a:ext cx="164592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657600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</a:rPr>
              <a:t>集中配置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187952"/>
            <a:ext cx="4251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Settings 统一管理 MySQL、Redis、Milvus、Neo4j、LLM、RAG 参数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38328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383280"/>
            <a:ext cx="164592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3657600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</a:rPr>
              <a:t>参数化检索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187952"/>
            <a:ext cx="4251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retrieval_top_k、rerank_top_k、hybrid 权重均可通过配置调整</a:t>
            </a:r>
          </a:p>
        </p:txBody>
      </p:sp>
    </p:spTree>
  </p:cSld>
  <p:transition spd="med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25880"/>
            <a:ext cx="109728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20240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04 项目价值与优化方向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74320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</a:rPr>
              <a:t>总结项目亮点，并给出后续改进空间。</a:t>
            </a:r>
          </a:p>
        </p:txBody>
      </p:sp>
    </p:spTree>
  </p:cSld>
  <p:transition spd="med">
    <p:fade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869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项目亮点总结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25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Role-playing system based on RAG · PDF Ingest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这个项目的价值在于构建了完整的知识处理闭环。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33375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1" y="1993392"/>
            <a:ext cx="50292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69748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多模态 PDF 入库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246120"/>
            <a:ext cx="278892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文本、OCR、表格、图片描述统一进入知识库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691640"/>
            <a:ext cx="33375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28032" y="1993392"/>
            <a:ext cx="5029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269748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混合检索增强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3246120"/>
            <a:ext cx="278892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BM25 + Vector + Graph 并行召回，单路异常自动降级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691640"/>
            <a:ext cx="33375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22792" y="1993392"/>
            <a:ext cx="50292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2792" y="269748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工程可维护性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3246120"/>
            <a:ext cx="278892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LLMClient 统一封装调用，配置校验提升上线安全</a:t>
            </a:r>
          </a:p>
        </p:txBody>
      </p:sp>
    </p:spTree>
  </p:cSld>
  <p:transition spd="med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869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后续优化方向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rPr sz="1100" b="0">
                <a:solidFill>
                  <a:srgbClr val="CBD5E1"/>
                </a:solidFill>
                <a:latin typeface="Microsoft YaHei"/>
              </a:rPr>
              <a:t>26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rPr sz="800" b="0">
                <a:solidFill>
                  <a:srgbClr val="64748B"/>
                </a:solidFill>
                <a:latin typeface="Microsoft YaHei"/>
              </a:rPr>
              <a:t>Role-playing system based on RAG · PDF Ingest 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14300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143000"/>
            <a:ext cx="164592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417320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</a:rPr>
              <a:t>表格增强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47672"/>
            <a:ext cx="4251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处理跨页表格、复杂合并单元格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4300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143000"/>
            <a:ext cx="16459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417320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</a:rPr>
              <a:t>异步入库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947672"/>
            <a:ext cx="4251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上传大 PDF 后后台队列处理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38328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383280"/>
            <a:ext cx="164592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657600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</a:rPr>
              <a:t>统一客户端扩展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187952"/>
            <a:ext cx="4251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Embedding / Rerank 后续也可抽象成独立 Client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38328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383280"/>
            <a:ext cx="164592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3657600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</a:rPr>
              <a:t>检索扩展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187952"/>
            <a:ext cx="4251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BM25 可升级 Elasticsearch / OpenSearch</a:t>
            </a:r>
          </a:p>
        </p:txBody>
      </p:sp>
    </p:spTree>
  </p:cSld>
  <p:transition spd="med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6868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总结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43000" y="1874519"/>
            <a:ext cx="9921240" cy="3017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91640" y="2331720"/>
            <a:ext cx="8915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334155"/>
                </a:solidFill>
                <a:latin typeface="Microsoft YaHei"/>
              </a:defRPr>
            </a:pPr>
            <a:r>
              <a:rPr sz="1900" b="0">
                <a:solidFill>
                  <a:srgbClr val="334155"/>
                </a:solidFill>
                <a:latin typeface="Microsoft YaHei"/>
              </a:rPr>
              <a:t>本项目不是简单调用大模型，而是构建了完整的 RAG 知识链路。</a:t>
            </a:r>
          </a:p>
          <a:p>
            <a:pPr>
              <a:spcAft>
                <a:spcPts val="800"/>
              </a:spcAft>
              <a:defRPr sz="1900" b="0">
                <a:solidFill>
                  <a:srgbClr val="334155"/>
                </a:solidFill>
                <a:latin typeface="Microsoft YaHei"/>
              </a:defRPr>
            </a:pPr>
            <a:r>
              <a:rPr sz="1900" b="0">
                <a:solidFill>
                  <a:srgbClr val="334155"/>
                </a:solidFill>
                <a:latin typeface="Microsoft YaHei"/>
              </a:rPr>
              <a:t>pdf_ingest_service.py 负责把复杂 PDF 转成可检索、可追溯、可融合的知识资产。</a:t>
            </a:r>
          </a:p>
          <a:p>
            <a:pPr>
              <a:spcAft>
                <a:spcPts val="800"/>
              </a:spcAft>
              <a:defRPr sz="1900" b="0">
                <a:solidFill>
                  <a:srgbClr val="334155"/>
                </a:solidFill>
                <a:latin typeface="Microsoft YaHei"/>
              </a:defRPr>
            </a:pPr>
            <a:r>
              <a:rPr sz="1900" b="0">
                <a:solidFill>
                  <a:srgbClr val="334155"/>
                </a:solidFill>
                <a:latin typeface="Microsoft YaHei"/>
              </a:rPr>
              <a:t>Hybrid 检索通过单路异常隔离提升可用性，LLMClient 通过统一封装提升可维护性。</a:t>
            </a:r>
          </a:p>
          <a:p>
            <a:pPr>
              <a:spcAft>
                <a:spcPts val="800"/>
              </a:spcAft>
              <a:defRPr sz="1900" b="0">
                <a:solidFill>
                  <a:srgbClr val="334155"/>
                </a:solidFill>
                <a:latin typeface="Microsoft YaHei"/>
              </a:defRPr>
            </a:pPr>
            <a:r>
              <a:rPr sz="1900" b="0">
                <a:solidFill>
                  <a:srgbClr val="334155"/>
                </a:solidFill>
                <a:latin typeface="Microsoft YaHei"/>
              </a:rPr>
              <a:t>最终目标：让角色对话能够基于真实文档进行稳定、可信的事实回答。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635508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Microsoft YaHei"/>
              </a:defRPr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27 / 27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